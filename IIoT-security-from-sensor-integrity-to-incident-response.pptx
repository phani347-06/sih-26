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Encode Sans Semi Condensed Bold" panose="020B0604020202020204" charset="0"/>
      <p:regular r:id="rId11"/>
    </p:embeddedFont>
    <p:embeddedFont>
      <p:font typeface="Hubot Sans" panose="020B0604020202020204" charset="0"/>
      <p:regular r:id="rId12"/>
    </p:embeddedFont>
    <p:embeddedFont>
      <p:font typeface="Hubot Sans Bold" panose="020B0604020202020204" charset="0"/>
      <p:regular r:id="rId13"/>
    </p:embeddedFont>
    <p:embeddedFont>
      <p:font typeface="Hubot Sans Medium" panose="020B0604020202020204" charset="0"/>
      <p:regular r:id="rId14"/>
    </p:embeddedFont>
    <p:embeddedFont>
      <p:font typeface="Red Hat Mono"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A23"/>
    <a:srgbClr val="0B1220"/>
    <a:srgbClr val="071018"/>
    <a:srgbClr val="0B22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211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presentation around two complementary security views: the integrity of the control path and the visibility of the network path.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split is deliberate. One architecture protects message meaning and control decisions; the other observes behavior across the network and server.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editable architecture from left to right. Water-quality sensors provide pH, turbidity, and electrical conductivity values to ESP32 #1, which adds device identity, timestamp, sequence number, and an HMAC-SHA-256 signature. Communication Link 1 carries only authenticated, replay-protected telemetry to the laptop-based IIoT security server. The server verifies HMAC and freshness, extracts sensor trends and historical deviations, and uses Random Forest ML to classify readings as normal or suspicious. Normal readings follow control policy; suspicious readings trigger an alert and evidence log. Communication Link 2 carries authenticated commands with replay protection and expiry checks to ESP32 #2, which verifies commands, enforces local safety limits, and executes control logic for the LED, buzzer, simulated pump, or diversion valve.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order: establish identity and message integrity, secure transport, verify and classify on the server, then constrain the response with alerts, evidence, and local safety limits.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traffic moves from ESP32 #1 through the laptop or server to ESP32 #2. TShark/Wireshark captures packets; live ingestion aggregates flows; Random Forest and Isolation Forest detect known and novel threats; alerts, evidence, and the incident timeline feed the Streamlit investigation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observation mechanism from the analytical roles. Packets are captured passively, flows provide structured fields, the two models cover known and unusual behavior, and the evidence remains available for investigation.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steps as one investigation path. Message verification and network monitoring become more useful when they share time and device identity, allowing the incident history to support both triage and reconstruction.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operational view. The dashboard unifies live readings, alerts, device and connection status, timelines, and history, while SQLite-backed services preserve the evidence behind the investigation.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E2A2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E2A23"/>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71018"/>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22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E8E868-965C-F5DC-2606-FEDA64D38B3E}"/>
              </a:ext>
            </a:extLst>
          </p:cNvPr>
          <p:cNvSpPr/>
          <p:nvPr/>
        </p:nvSpPr>
        <p:spPr>
          <a:xfrm>
            <a:off x="11110823" y="6556075"/>
            <a:ext cx="992037" cy="241540"/>
          </a:xfrm>
          <a:prstGeom prst="rect">
            <a:avLst/>
          </a:prstGeom>
          <a:solidFill>
            <a:srgbClr val="0B22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hape 0"/>
          <p:cNvSpPr/>
          <p:nvPr/>
        </p:nvSpPr>
        <p:spPr>
          <a:xfrm>
            <a:off x="0" y="0"/>
            <a:ext cx="7721407" cy="6858000"/>
          </a:xfrm>
          <a:prstGeom prst="rect">
            <a:avLst/>
          </a:prstGeom>
          <a:solidFill>
            <a:srgbClr val="0B221C"/>
          </a:solidFill>
          <a:ln/>
        </p:spPr>
      </p:sp>
      <p:sp>
        <p:nvSpPr>
          <p:cNvPr id="3" name="Text 1"/>
          <p:cNvSpPr/>
          <p:nvPr/>
        </p:nvSpPr>
        <p:spPr>
          <a:xfrm>
            <a:off x="482588" y="574864"/>
            <a:ext cx="7238819"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FFFFF"/>
                </a:solidFill>
                <a:latin typeface="Red Hat Mono" pitchFamily="34" charset="0"/>
                <a:ea typeface="Red Hat Mono" pitchFamily="34" charset="-122"/>
                <a:cs typeface="Red Hat Mono" pitchFamily="34" charset="-120"/>
              </a:rPr>
              <a:t>IIOT SECURITY</a:t>
            </a:r>
            <a:endParaRPr lang="en-US" sz="1100" dirty="0"/>
          </a:p>
        </p:txBody>
      </p:sp>
      <p:sp>
        <p:nvSpPr>
          <p:cNvPr id="4" name="Text 2"/>
          <p:cNvSpPr/>
          <p:nvPr/>
        </p:nvSpPr>
        <p:spPr>
          <a:xfrm>
            <a:off x="482588" y="934593"/>
            <a:ext cx="6756231" cy="4729262"/>
          </a:xfrm>
          <a:prstGeom prst="rect">
            <a:avLst/>
          </a:prstGeom>
          <a:noFill/>
          <a:ln/>
        </p:spPr>
        <p:txBody>
          <a:bodyPr wrap="square" lIns="0" tIns="0" rIns="0" bIns="0" rtlCol="0" anchor="t">
            <a:normAutofit lnSpcReduction="10000"/>
          </a:bodyPr>
          <a:lstStyle/>
          <a:p>
            <a:pPr marL="0" indent="0" algn="l">
              <a:lnSpc>
                <a:spcPct val="82000"/>
              </a:lnSpc>
              <a:buNone/>
            </a:pPr>
            <a:r>
              <a:rPr lang="en-US" sz="7600" b="1" kern="100" spc="-76" dirty="0">
                <a:solidFill>
                  <a:srgbClr val="FFFFFF"/>
                </a:solidFill>
                <a:latin typeface="Encode Sans Semi Condensed Bold" pitchFamily="34" charset="0"/>
                <a:ea typeface="Encode Sans Semi Condensed Bold" pitchFamily="34" charset="-122"/>
                <a:cs typeface="Encode Sans Semi Condensed Bold" pitchFamily="34" charset="-120"/>
              </a:rPr>
              <a:t>IIoT security</a:t>
            </a:r>
            <a:endParaRPr lang="en-US" sz="7600" dirty="0"/>
          </a:p>
          <a:p>
            <a:pPr marL="0" indent="0" algn="l">
              <a:lnSpc>
                <a:spcPct val="82000"/>
              </a:lnSpc>
              <a:buNone/>
            </a:pPr>
            <a:r>
              <a:rPr lang="en-US" sz="7600" b="1" kern="100" spc="-76" dirty="0">
                <a:solidFill>
                  <a:srgbClr val="FFFFFF"/>
                </a:solidFill>
                <a:latin typeface="Encode Sans Semi Condensed Bold" pitchFamily="34" charset="0"/>
                <a:ea typeface="Encode Sans Semi Condensed Bold" pitchFamily="34" charset="-122"/>
                <a:cs typeface="Encode Sans Semi Condensed Bold" pitchFamily="34" charset="-120"/>
              </a:rPr>
              <a:t>from sensor integrity</a:t>
            </a:r>
            <a:endParaRPr lang="en-US" sz="7600" dirty="0"/>
          </a:p>
          <a:p>
            <a:pPr marL="0" indent="0" algn="l">
              <a:lnSpc>
                <a:spcPct val="82000"/>
              </a:lnSpc>
              <a:buNone/>
            </a:pPr>
            <a:r>
              <a:rPr lang="en-US" sz="7600" b="1" kern="100" spc="-76" dirty="0">
                <a:solidFill>
                  <a:srgbClr val="FFFFFF"/>
                </a:solidFill>
                <a:latin typeface="Encode Sans Semi Condensed Bold" pitchFamily="34" charset="0"/>
                <a:ea typeface="Encode Sans Semi Condensed Bold" pitchFamily="34" charset="-122"/>
                <a:cs typeface="Encode Sans Semi Condensed Bold" pitchFamily="34" charset="-120"/>
              </a:rPr>
              <a:t>to incident response</a:t>
            </a:r>
            <a:endParaRPr lang="en-US" sz="7600" dirty="0"/>
          </a:p>
        </p:txBody>
      </p:sp>
      <p:sp>
        <p:nvSpPr>
          <p:cNvPr id="5" name="Text 3"/>
          <p:cNvSpPr/>
          <p:nvPr/>
        </p:nvSpPr>
        <p:spPr>
          <a:xfrm>
            <a:off x="482588" y="5741690"/>
            <a:ext cx="6756231"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FFFFFF"/>
                </a:solidFill>
                <a:latin typeface="Hubot Sans" pitchFamily="34" charset="0"/>
                <a:ea typeface="Hubot Sans" pitchFamily="34" charset="-122"/>
                <a:cs typeface="Hubot Sans" pitchFamily="34" charset="-120"/>
              </a:rPr>
              <a:t>Two complementary architectures protect the control path and the network path.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8890DCC-7B9E-4F95-9DBB-E60A27586E64}"/>
              </a:ext>
            </a:extLst>
          </p:cNvPr>
          <p:cNvSpPr/>
          <p:nvPr/>
        </p:nvSpPr>
        <p:spPr>
          <a:xfrm>
            <a:off x="11024422" y="6534329"/>
            <a:ext cx="1115378" cy="276225"/>
          </a:xfrm>
          <a:prstGeom prst="rect">
            <a:avLst/>
          </a:prstGeom>
          <a:solidFill>
            <a:srgbClr val="0E2A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09585" y="613460"/>
            <a:ext cx="11582110"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DESIGN RATIONALE</a:t>
            </a:r>
            <a:endParaRPr lang="en-US" sz="1100" dirty="0"/>
          </a:p>
        </p:txBody>
      </p:sp>
      <p:sp>
        <p:nvSpPr>
          <p:cNvPr id="3" name="Text 1"/>
          <p:cNvSpPr/>
          <p:nvPr/>
        </p:nvSpPr>
        <p:spPr>
          <a:xfrm>
            <a:off x="609585" y="900650"/>
            <a:ext cx="10972526" cy="533400"/>
          </a:xfrm>
          <a:prstGeom prst="rect">
            <a:avLst/>
          </a:prstGeom>
          <a:noFill/>
          <a:ln/>
        </p:spPr>
        <p:txBody>
          <a:bodyPr wrap="none" lIns="0" tIns="0" rIns="0" bIns="0" rtlCol="0" anchor="t"/>
          <a:lstStyle/>
          <a:p>
            <a:pPr marL="0" indent="0" algn="l">
              <a:lnSpc>
                <a:spcPct val="88000"/>
              </a:lnSpc>
              <a:buNone/>
            </a:pPr>
            <a:r>
              <a:rPr lang="en-US" sz="4000" b="1" kern="100" spc="-20" dirty="0">
                <a:solidFill>
                  <a:srgbClr val="FF5A3C"/>
                </a:solidFill>
                <a:latin typeface="Encode Sans Semi Condensed Bold" pitchFamily="34" charset="0"/>
                <a:ea typeface="Encode Sans Semi Condensed Bold" pitchFamily="34" charset="-122"/>
                <a:cs typeface="Encode Sans Semi Condensed Bold" pitchFamily="34" charset="-120"/>
              </a:rPr>
              <a:t>Why the design uses two architectures</a:t>
            </a:r>
            <a:endParaRPr lang="en-US" sz="4000" dirty="0"/>
          </a:p>
        </p:txBody>
      </p:sp>
      <p:sp>
        <p:nvSpPr>
          <p:cNvPr id="4" name="Text 2"/>
          <p:cNvSpPr/>
          <p:nvPr/>
        </p:nvSpPr>
        <p:spPr>
          <a:xfrm>
            <a:off x="609585" y="1584424"/>
            <a:ext cx="11582110" cy="276225"/>
          </a:xfrm>
          <a:prstGeom prst="rect">
            <a:avLst/>
          </a:prstGeom>
          <a:noFill/>
          <a:ln/>
        </p:spPr>
        <p:txBody>
          <a:bodyPr wrap="none" lIns="0" tIns="0" rIns="0" bIns="0" rtlCol="0" anchor="t"/>
          <a:lstStyle/>
          <a:p>
            <a:pPr marL="0" indent="0" algn="l">
              <a:lnSpc>
                <a:spcPct val="121000"/>
              </a:lnSpc>
              <a:buNone/>
            </a:pPr>
            <a:r>
              <a:rPr lang="en-US" sz="1500" dirty="0">
                <a:solidFill>
                  <a:srgbClr val="EAF4EE"/>
                </a:solidFill>
                <a:latin typeface="Hubot Sans" pitchFamily="34" charset="0"/>
                <a:ea typeface="Hubot Sans" pitchFamily="34" charset="-122"/>
                <a:cs typeface="Hubot Sans" pitchFamily="34" charset="-120"/>
              </a:rPr>
              <a:t>Each architecture answers a different security question. Shared evidence connects the answers.</a:t>
            </a:r>
            <a:endParaRPr lang="en-US" sz="1500" dirty="0"/>
          </a:p>
        </p:txBody>
      </p:sp>
      <p:sp>
        <p:nvSpPr>
          <p:cNvPr id="5" name="Shape 3"/>
          <p:cNvSpPr/>
          <p:nvPr/>
        </p:nvSpPr>
        <p:spPr>
          <a:xfrm>
            <a:off x="609585" y="2005905"/>
            <a:ext cx="3454314" cy="2346325"/>
          </a:xfrm>
          <a:prstGeom prst="rect">
            <a:avLst/>
          </a:prstGeom>
          <a:solidFill>
            <a:srgbClr val="0B221C"/>
          </a:solidFill>
          <a:ln/>
        </p:spPr>
      </p:sp>
      <p:pic>
        <p:nvPicPr>
          <p:cNvPr id="6" name="Image 0" descr="preencoded.png"/>
          <p:cNvPicPr>
            <a:picLocks noChangeAspect="1"/>
          </p:cNvPicPr>
          <p:nvPr/>
        </p:nvPicPr>
        <p:blipFill>
          <a:blip r:embed="rId3"/>
          <a:stretch>
            <a:fillRect/>
          </a:stretch>
        </p:blipFill>
        <p:spPr>
          <a:xfrm>
            <a:off x="863578" y="2285305"/>
            <a:ext cx="380990" cy="381000"/>
          </a:xfrm>
          <a:prstGeom prst="rect">
            <a:avLst/>
          </a:prstGeom>
        </p:spPr>
      </p:pic>
      <p:sp>
        <p:nvSpPr>
          <p:cNvPr id="7" name="Text 4"/>
          <p:cNvSpPr/>
          <p:nvPr/>
        </p:nvSpPr>
        <p:spPr>
          <a:xfrm>
            <a:off x="863578" y="2790130"/>
            <a:ext cx="2946326" cy="330200"/>
          </a:xfrm>
          <a:prstGeom prst="rect">
            <a:avLst/>
          </a:prstGeom>
          <a:noFill/>
          <a:ln/>
        </p:spPr>
        <p:txBody>
          <a:bodyPr wrap="none" lIns="0" tIns="0" rIns="0" bIns="0" rtlCol="0" anchor="t"/>
          <a:lstStyle/>
          <a:p>
            <a:pPr marL="0" indent="0" algn="l">
              <a:lnSpc>
                <a:spcPct val="108000"/>
              </a:lnSpc>
              <a:buNone/>
            </a:pPr>
            <a:r>
              <a:rPr lang="en-US" sz="2000" dirty="0">
                <a:solidFill>
                  <a:srgbClr val="FFFFFF"/>
                </a:solidFill>
                <a:latin typeface="Hubot Sans Medium" pitchFamily="34" charset="0"/>
                <a:ea typeface="Hubot Sans Medium" pitchFamily="34" charset="-122"/>
                <a:cs typeface="Hubot Sans Medium" pitchFamily="34" charset="-120"/>
              </a:rPr>
              <a:t>Architecture 1</a:t>
            </a:r>
            <a:endParaRPr lang="en-US" sz="2000" dirty="0"/>
          </a:p>
        </p:txBody>
      </p:sp>
      <p:sp>
        <p:nvSpPr>
          <p:cNvPr id="8" name="Text 5"/>
          <p:cNvSpPr/>
          <p:nvPr/>
        </p:nvSpPr>
        <p:spPr>
          <a:xfrm>
            <a:off x="863578" y="3251299"/>
            <a:ext cx="2946326"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FFFFFF"/>
                </a:solidFill>
                <a:latin typeface="Hubot Sans" pitchFamily="34" charset="0"/>
                <a:ea typeface="Hubot Sans" pitchFamily="34" charset="-122"/>
                <a:cs typeface="Hubot Sans" pitchFamily="34" charset="-120"/>
              </a:rPr>
              <a:t>Detects tampered sensor readings and protects control commands.</a:t>
            </a:r>
            <a:endParaRPr lang="en-US" sz="1500" dirty="0"/>
          </a:p>
        </p:txBody>
      </p:sp>
      <p:sp>
        <p:nvSpPr>
          <p:cNvPr id="9" name="Shape 6"/>
          <p:cNvSpPr/>
          <p:nvPr/>
        </p:nvSpPr>
        <p:spPr>
          <a:xfrm>
            <a:off x="4368691" y="2005905"/>
            <a:ext cx="3454314" cy="2346325"/>
          </a:xfrm>
          <a:prstGeom prst="rect">
            <a:avLst/>
          </a:prstGeom>
          <a:solidFill>
            <a:srgbClr val="1E4A3D"/>
          </a:solidFill>
          <a:ln/>
        </p:spPr>
      </p:sp>
      <p:pic>
        <p:nvPicPr>
          <p:cNvPr id="10" name="Image 1" descr="preencoded.png"/>
          <p:cNvPicPr>
            <a:picLocks noChangeAspect="1"/>
          </p:cNvPicPr>
          <p:nvPr/>
        </p:nvPicPr>
        <p:blipFill>
          <a:blip r:embed="rId4"/>
          <a:stretch>
            <a:fillRect/>
          </a:stretch>
        </p:blipFill>
        <p:spPr>
          <a:xfrm>
            <a:off x="4622684" y="2285305"/>
            <a:ext cx="380990" cy="381000"/>
          </a:xfrm>
          <a:prstGeom prst="rect">
            <a:avLst/>
          </a:prstGeom>
        </p:spPr>
      </p:pic>
      <p:sp>
        <p:nvSpPr>
          <p:cNvPr id="11" name="Text 7"/>
          <p:cNvSpPr/>
          <p:nvPr/>
        </p:nvSpPr>
        <p:spPr>
          <a:xfrm>
            <a:off x="4622684" y="2790130"/>
            <a:ext cx="2946326" cy="330200"/>
          </a:xfrm>
          <a:prstGeom prst="rect">
            <a:avLst/>
          </a:prstGeom>
          <a:noFill/>
          <a:ln/>
        </p:spPr>
        <p:txBody>
          <a:bodyPr wrap="none" lIns="0" tIns="0" rIns="0" bIns="0" rtlCol="0" anchor="t"/>
          <a:lstStyle/>
          <a:p>
            <a:pPr marL="0" indent="0" algn="l">
              <a:lnSpc>
                <a:spcPct val="108000"/>
              </a:lnSpc>
              <a:buNone/>
            </a:pPr>
            <a:r>
              <a:rPr lang="en-US" sz="2000" dirty="0">
                <a:solidFill>
                  <a:srgbClr val="FFFFFF"/>
                </a:solidFill>
                <a:latin typeface="Hubot Sans Medium" pitchFamily="34" charset="0"/>
                <a:ea typeface="Hubot Sans Medium" pitchFamily="34" charset="-122"/>
                <a:cs typeface="Hubot Sans Medium" pitchFamily="34" charset="-120"/>
              </a:rPr>
              <a:t>Architecture 2</a:t>
            </a:r>
            <a:endParaRPr lang="en-US" sz="2000" dirty="0"/>
          </a:p>
        </p:txBody>
      </p:sp>
      <p:sp>
        <p:nvSpPr>
          <p:cNvPr id="12" name="Text 8"/>
          <p:cNvSpPr/>
          <p:nvPr/>
        </p:nvSpPr>
        <p:spPr>
          <a:xfrm>
            <a:off x="4622684" y="3251299"/>
            <a:ext cx="2946326"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FFFFFF"/>
                </a:solidFill>
                <a:latin typeface="Hubot Sans" pitchFamily="34" charset="0"/>
                <a:ea typeface="Hubot Sans" pitchFamily="34" charset="-122"/>
                <a:cs typeface="Hubot Sans" pitchFamily="34" charset="-120"/>
              </a:rPr>
              <a:t>Detects suspicious network behavior and supports server-side investigation.</a:t>
            </a:r>
            <a:endParaRPr lang="en-US" sz="1500" dirty="0"/>
          </a:p>
        </p:txBody>
      </p:sp>
      <p:sp>
        <p:nvSpPr>
          <p:cNvPr id="13" name="Shape 9"/>
          <p:cNvSpPr/>
          <p:nvPr/>
        </p:nvSpPr>
        <p:spPr>
          <a:xfrm>
            <a:off x="8127797" y="2005905"/>
            <a:ext cx="3454314" cy="2346325"/>
          </a:xfrm>
          <a:prstGeom prst="rect">
            <a:avLst/>
          </a:prstGeom>
          <a:solidFill>
            <a:srgbClr val="1E4A3D"/>
          </a:solidFill>
          <a:ln/>
        </p:spPr>
      </p:sp>
      <p:pic>
        <p:nvPicPr>
          <p:cNvPr id="14" name="Image 2" descr="preencoded.png"/>
          <p:cNvPicPr>
            <a:picLocks noChangeAspect="1"/>
          </p:cNvPicPr>
          <p:nvPr/>
        </p:nvPicPr>
        <p:blipFill>
          <a:blip r:embed="rId5"/>
          <a:stretch>
            <a:fillRect/>
          </a:stretch>
        </p:blipFill>
        <p:spPr>
          <a:xfrm>
            <a:off x="8381790" y="2285305"/>
            <a:ext cx="380990" cy="381000"/>
          </a:xfrm>
          <a:prstGeom prst="rect">
            <a:avLst/>
          </a:prstGeom>
        </p:spPr>
      </p:pic>
      <p:sp>
        <p:nvSpPr>
          <p:cNvPr id="15" name="Text 10"/>
          <p:cNvSpPr/>
          <p:nvPr/>
        </p:nvSpPr>
        <p:spPr>
          <a:xfrm>
            <a:off x="8381790" y="2790130"/>
            <a:ext cx="2946326" cy="330200"/>
          </a:xfrm>
          <a:prstGeom prst="rect">
            <a:avLst/>
          </a:prstGeom>
          <a:noFill/>
          <a:ln/>
        </p:spPr>
        <p:txBody>
          <a:bodyPr wrap="none" lIns="0" tIns="0" rIns="0" bIns="0" rtlCol="0" anchor="t"/>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Shared evidence</a:t>
            </a:r>
            <a:endParaRPr lang="en-US" sz="2000" dirty="0"/>
          </a:p>
        </p:txBody>
      </p:sp>
      <p:sp>
        <p:nvSpPr>
          <p:cNvPr id="16" name="Text 11"/>
          <p:cNvSpPr/>
          <p:nvPr/>
        </p:nvSpPr>
        <p:spPr>
          <a:xfrm>
            <a:off x="8381790" y="3251299"/>
            <a:ext cx="2946326"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EAF4EE"/>
                </a:solidFill>
                <a:latin typeface="Hubot Sans" pitchFamily="34" charset="0"/>
                <a:ea typeface="Hubot Sans" pitchFamily="34" charset="-122"/>
                <a:cs typeface="Hubot Sans" pitchFamily="34" charset="-120"/>
              </a:rPr>
              <a:t>Shared timestamps, device IDs, evidence, and incident records connect the two views.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9E36C55B-43DE-FBAF-BF1B-C2EA0E143ACC}"/>
              </a:ext>
            </a:extLst>
          </p:cNvPr>
          <p:cNvSpPr/>
          <p:nvPr/>
        </p:nvSpPr>
        <p:spPr>
          <a:xfrm>
            <a:off x="11041811" y="6546453"/>
            <a:ext cx="1149884" cy="311547"/>
          </a:xfrm>
          <a:prstGeom prst="rect">
            <a:avLst/>
          </a:prstGeom>
          <a:solidFill>
            <a:srgbClr val="0710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403215" y="3810"/>
            <a:ext cx="11788480" cy="137120"/>
          </a:xfrm>
          <a:prstGeom prst="rect">
            <a:avLst/>
          </a:prstGeom>
          <a:noFill/>
          <a:ln/>
        </p:spPr>
        <p:txBody>
          <a:bodyPr wrap="none" lIns="0" tIns="0" rIns="0" bIns="0" rtlCol="0" anchor="t"/>
          <a:lstStyle/>
          <a:p>
            <a:pPr marL="0" indent="0" algn="l">
              <a:lnSpc>
                <a:spcPct val="100000"/>
              </a:lnSpc>
              <a:buNone/>
            </a:pPr>
            <a:r>
              <a:rPr lang="en-US" sz="900" kern="100" spc="72" dirty="0">
                <a:solidFill>
                  <a:srgbClr val="65D9C5"/>
                </a:solidFill>
                <a:latin typeface="Red Hat Mono" pitchFamily="34" charset="0"/>
                <a:ea typeface="Red Hat Mono" pitchFamily="34" charset="-122"/>
                <a:cs typeface="Red Hat Mono" pitchFamily="34" charset="-120"/>
              </a:rPr>
              <a:t>ARCHITECTURE 1 · VERIFIED CONTROL PATH</a:t>
            </a:r>
            <a:endParaRPr lang="en-US" sz="900" dirty="0"/>
          </a:p>
        </p:txBody>
      </p:sp>
      <p:sp>
        <p:nvSpPr>
          <p:cNvPr id="3" name="Text 1"/>
          <p:cNvSpPr/>
          <p:nvPr/>
        </p:nvSpPr>
        <p:spPr>
          <a:xfrm>
            <a:off x="403215" y="237704"/>
            <a:ext cx="11385265" cy="279995"/>
          </a:xfrm>
          <a:prstGeom prst="rect">
            <a:avLst/>
          </a:prstGeom>
          <a:noFill/>
          <a:ln/>
        </p:spPr>
        <p:txBody>
          <a:bodyPr wrap="none" lIns="0" tIns="0" rIns="0" bIns="0" rtlCol="0" anchor="t"/>
          <a:lstStyle/>
          <a:p>
            <a:pPr marL="0" indent="0" algn="l">
              <a:lnSpc>
                <a:spcPct val="87000"/>
              </a:lnSpc>
              <a:buNone/>
            </a:pPr>
            <a:r>
              <a:rPr lang="en-US" sz="2100" b="1" kern="100" spc="-10" dirty="0">
                <a:solidFill>
                  <a:srgbClr val="FF5A3C"/>
                </a:solidFill>
                <a:latin typeface="Encode Sans Semi Condensed Bold" pitchFamily="34" charset="0"/>
                <a:ea typeface="Encode Sans Semi Condensed Bold" pitchFamily="34" charset="-122"/>
                <a:cs typeface="Encode Sans Semi Condensed Bold" pitchFamily="34" charset="-120"/>
              </a:rPr>
              <a:t>Sensor integrity before control action</a:t>
            </a:r>
            <a:endParaRPr lang="en-US" sz="2100" dirty="0"/>
          </a:p>
        </p:txBody>
      </p:sp>
      <p:sp>
        <p:nvSpPr>
          <p:cNvPr id="4" name="Text 2"/>
          <p:cNvSpPr/>
          <p:nvPr/>
        </p:nvSpPr>
        <p:spPr>
          <a:xfrm>
            <a:off x="403215" y="683816"/>
            <a:ext cx="11788480" cy="156468"/>
          </a:xfrm>
          <a:prstGeom prst="rect">
            <a:avLst/>
          </a:prstGeom>
          <a:noFill/>
          <a:ln/>
        </p:spPr>
        <p:txBody>
          <a:bodyPr wrap="none" lIns="0" tIns="0" rIns="0" bIns="0" rtlCol="0" anchor="t"/>
          <a:lstStyle/>
          <a:p>
            <a:pPr marL="0" indent="0" algn="l">
              <a:lnSpc>
                <a:spcPct val="121000"/>
              </a:lnSpc>
              <a:buNone/>
            </a:pPr>
            <a:r>
              <a:rPr lang="en-US" sz="850" dirty="0">
                <a:solidFill>
                  <a:srgbClr val="9BB0BE"/>
                </a:solidFill>
                <a:latin typeface="Hubot Sans" pitchFamily="34" charset="0"/>
                <a:ea typeface="Hubot Sans" pitchFamily="34" charset="-122"/>
                <a:cs typeface="Hubot Sans" pitchFamily="34" charset="-120"/>
              </a:rPr>
              <a:t>Read, authenticate, classify, then execute only verified commands.</a:t>
            </a:r>
            <a:endParaRPr lang="en-US" sz="850" dirty="0"/>
          </a:p>
        </p:txBody>
      </p:sp>
      <p:sp>
        <p:nvSpPr>
          <p:cNvPr id="5" name="Shape 3"/>
          <p:cNvSpPr/>
          <p:nvPr/>
        </p:nvSpPr>
        <p:spPr>
          <a:xfrm>
            <a:off x="888978" y="863600"/>
            <a:ext cx="10413739" cy="355600"/>
          </a:xfrm>
          <a:prstGeom prst="roundRect">
            <a:avLst>
              <a:gd name="adj" fmla="val 34285"/>
            </a:avLst>
          </a:prstGeom>
          <a:solidFill>
            <a:srgbClr val="102531"/>
          </a:solidFill>
          <a:ln w="12700">
            <a:solidFill>
              <a:srgbClr val="2E6875"/>
            </a:solidFill>
            <a:prstDash val="solid"/>
          </a:ln>
        </p:spPr>
      </p:sp>
      <p:sp>
        <p:nvSpPr>
          <p:cNvPr id="6" name="Text 4"/>
          <p:cNvSpPr/>
          <p:nvPr/>
        </p:nvSpPr>
        <p:spPr>
          <a:xfrm>
            <a:off x="1079473" y="939800"/>
            <a:ext cx="10642334" cy="156468"/>
          </a:xfrm>
          <a:prstGeom prst="rect">
            <a:avLst/>
          </a:prstGeom>
          <a:noFill/>
          <a:ln/>
        </p:spPr>
        <p:txBody>
          <a:bodyPr wrap="none" lIns="0" tIns="0" rIns="0" bIns="0" rtlCol="0" anchor="t"/>
          <a:lstStyle/>
          <a:p>
            <a:pPr marL="0" indent="0" algn="l">
              <a:lnSpc>
                <a:spcPct val="121000"/>
              </a:lnSpc>
              <a:buNone/>
            </a:pPr>
            <a:r>
              <a:rPr lang="en-US" sz="850" b="1" dirty="0">
                <a:solidFill>
                  <a:srgbClr val="65D9C5"/>
                </a:solidFill>
                <a:latin typeface="Hubot Sans Bold" pitchFamily="34" charset="0"/>
                <a:ea typeface="Hubot Sans Bold" pitchFamily="34" charset="-122"/>
                <a:cs typeface="Hubot Sans Bold" pitchFamily="34" charset="-120"/>
              </a:rPr>
              <a:t>1 · INPUT</a:t>
            </a:r>
            <a:r>
              <a:rPr lang="en-US" sz="850" dirty="0">
                <a:solidFill>
                  <a:srgbClr val="FFFFFF"/>
                </a:solidFill>
                <a:latin typeface="Hubot Sans" pitchFamily="34" charset="0"/>
                <a:ea typeface="Hubot Sans" pitchFamily="34" charset="-122"/>
                <a:cs typeface="Hubot Sans" pitchFamily="34" charset="-120"/>
              </a:rPr>
              <a:t>  Water-quality sensors  ·  pH  ·  Turbidity  ·  Electrical conductivity</a:t>
            </a:r>
            <a:endParaRPr lang="en-US" sz="850" dirty="0"/>
          </a:p>
        </p:txBody>
      </p:sp>
      <p:sp>
        <p:nvSpPr>
          <p:cNvPr id="7" name="Shape 5"/>
          <p:cNvSpPr/>
          <p:nvPr/>
        </p:nvSpPr>
        <p:spPr>
          <a:xfrm>
            <a:off x="6006950" y="1244600"/>
            <a:ext cx="177796" cy="127000"/>
          </a:xfrm>
          <a:prstGeom prst="downArrow">
            <a:avLst/>
          </a:prstGeom>
          <a:solidFill>
            <a:srgbClr val="65D9C5"/>
          </a:solidFill>
          <a:ln/>
        </p:spPr>
      </p:sp>
      <p:sp>
        <p:nvSpPr>
          <p:cNvPr id="8" name="Shape 6"/>
          <p:cNvSpPr/>
          <p:nvPr/>
        </p:nvSpPr>
        <p:spPr>
          <a:xfrm>
            <a:off x="888978" y="1397000"/>
            <a:ext cx="10413739" cy="482600"/>
          </a:xfrm>
          <a:prstGeom prst="roundRect">
            <a:avLst>
              <a:gd name="adj" fmla="val 25263"/>
            </a:avLst>
          </a:prstGeom>
          <a:solidFill>
            <a:srgbClr val="13263B"/>
          </a:solidFill>
          <a:ln w="12700">
            <a:solidFill>
              <a:srgbClr val="4B88B5"/>
            </a:solidFill>
            <a:prstDash val="solid"/>
          </a:ln>
        </p:spPr>
      </p:sp>
      <p:sp>
        <p:nvSpPr>
          <p:cNvPr id="9" name="Text 7"/>
          <p:cNvSpPr/>
          <p:nvPr/>
        </p:nvSpPr>
        <p:spPr>
          <a:xfrm>
            <a:off x="1079473" y="1473200"/>
            <a:ext cx="10642334" cy="156468"/>
          </a:xfrm>
          <a:prstGeom prst="rect">
            <a:avLst/>
          </a:prstGeom>
          <a:noFill/>
          <a:ln/>
        </p:spPr>
        <p:txBody>
          <a:bodyPr wrap="none" lIns="0" tIns="0" rIns="0" bIns="0" rtlCol="0" anchor="t"/>
          <a:lstStyle/>
          <a:p>
            <a:pPr marL="0" indent="0" algn="l">
              <a:lnSpc>
                <a:spcPct val="121000"/>
              </a:lnSpc>
              <a:buNone/>
            </a:pPr>
            <a:r>
              <a:rPr lang="en-US" sz="850" b="1" dirty="0">
                <a:solidFill>
                  <a:srgbClr val="7FB7DF"/>
                </a:solidFill>
                <a:latin typeface="Hubot Sans Bold" pitchFamily="34" charset="0"/>
                <a:ea typeface="Hubot Sans Bold" pitchFamily="34" charset="-122"/>
                <a:cs typeface="Hubot Sans Bold" pitchFamily="34" charset="-120"/>
              </a:rPr>
              <a:t>2 · ACQUIRE</a:t>
            </a:r>
            <a:r>
              <a:rPr lang="en-US" sz="850" dirty="0">
                <a:solidFill>
                  <a:srgbClr val="FFFFFF"/>
                </a:solidFill>
                <a:latin typeface="Hubot Sans" pitchFamily="34" charset="0"/>
                <a:ea typeface="Hubot Sans" pitchFamily="34" charset="-122"/>
                <a:cs typeface="Hubot Sans" pitchFamily="34" charset="-120"/>
              </a:rPr>
              <a:t>  ESP32 #1 sensor acquisition  ·  Read sensor values  ·  Add device ID, timestamp + sequence number  ·  Generate HMAC-SHA-256</a:t>
            </a:r>
            <a:endParaRPr lang="en-US" sz="850" dirty="0"/>
          </a:p>
        </p:txBody>
      </p:sp>
      <p:sp>
        <p:nvSpPr>
          <p:cNvPr id="10" name="Shape 8"/>
          <p:cNvSpPr/>
          <p:nvPr/>
        </p:nvSpPr>
        <p:spPr>
          <a:xfrm>
            <a:off x="6006950" y="1905000"/>
            <a:ext cx="177796" cy="127000"/>
          </a:xfrm>
          <a:prstGeom prst="downArrow">
            <a:avLst/>
          </a:prstGeom>
          <a:solidFill>
            <a:srgbClr val="65D9C5"/>
          </a:solidFill>
          <a:ln/>
        </p:spPr>
      </p:sp>
      <p:sp>
        <p:nvSpPr>
          <p:cNvPr id="11" name="Shape 9"/>
          <p:cNvSpPr/>
          <p:nvPr/>
        </p:nvSpPr>
        <p:spPr>
          <a:xfrm>
            <a:off x="888978" y="2057400"/>
            <a:ext cx="10413739" cy="330200"/>
          </a:xfrm>
          <a:prstGeom prst="roundRect">
            <a:avLst>
              <a:gd name="adj" fmla="val 36922"/>
            </a:avLst>
          </a:prstGeom>
          <a:solidFill>
            <a:srgbClr val="102B31"/>
          </a:solidFill>
          <a:ln w="12700">
            <a:solidFill>
              <a:srgbClr val="3B9D9A"/>
            </a:solidFill>
            <a:prstDash val="solid"/>
          </a:ln>
        </p:spPr>
      </p:sp>
      <p:sp>
        <p:nvSpPr>
          <p:cNvPr id="12" name="Text 10"/>
          <p:cNvSpPr/>
          <p:nvPr/>
        </p:nvSpPr>
        <p:spPr>
          <a:xfrm>
            <a:off x="1079473" y="21396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65D9C5"/>
                </a:solidFill>
                <a:latin typeface="Hubot Sans Bold" pitchFamily="34" charset="0"/>
                <a:ea typeface="Hubot Sans Bold" pitchFamily="34" charset="-122"/>
                <a:cs typeface="Hubot Sans Bold" pitchFamily="34" charset="-120"/>
              </a:rPr>
              <a:t>3 · COMMUNICATION LINK 1</a:t>
            </a:r>
            <a:r>
              <a:rPr lang="en-US" sz="800" dirty="0">
                <a:solidFill>
                  <a:srgbClr val="FFFFFF"/>
                </a:solidFill>
                <a:latin typeface="Hubot Sans" pitchFamily="34" charset="0"/>
                <a:ea typeface="Hubot Sans" pitchFamily="34" charset="-122"/>
                <a:cs typeface="Hubot Sans" pitchFamily="34" charset="-120"/>
              </a:rPr>
              <a:t>  Wi-Fi · HTTPS/MQTT over TLS  ·  authenticity · replay protection</a:t>
            </a:r>
            <a:endParaRPr lang="en-US" sz="800" dirty="0"/>
          </a:p>
        </p:txBody>
      </p:sp>
      <p:sp>
        <p:nvSpPr>
          <p:cNvPr id="13" name="Shape 11"/>
          <p:cNvSpPr/>
          <p:nvPr/>
        </p:nvSpPr>
        <p:spPr>
          <a:xfrm>
            <a:off x="6006950" y="2413000"/>
            <a:ext cx="177796" cy="127000"/>
          </a:xfrm>
          <a:prstGeom prst="downArrow">
            <a:avLst/>
          </a:prstGeom>
          <a:solidFill>
            <a:srgbClr val="65D9C5"/>
          </a:solidFill>
          <a:ln/>
        </p:spPr>
      </p:sp>
      <p:sp>
        <p:nvSpPr>
          <p:cNvPr id="14" name="Shape 12"/>
          <p:cNvSpPr/>
          <p:nvPr/>
        </p:nvSpPr>
        <p:spPr>
          <a:xfrm>
            <a:off x="888978" y="2565400"/>
            <a:ext cx="10413739" cy="406400"/>
          </a:xfrm>
          <a:prstGeom prst="roundRect">
            <a:avLst>
              <a:gd name="adj" fmla="val 29999"/>
            </a:avLst>
          </a:prstGeom>
          <a:solidFill>
            <a:srgbClr val="28213A"/>
          </a:solidFill>
          <a:ln w="12700">
            <a:solidFill>
              <a:srgbClr val="9876C6"/>
            </a:solidFill>
            <a:prstDash val="solid"/>
          </a:ln>
        </p:spPr>
      </p:sp>
      <p:sp>
        <p:nvSpPr>
          <p:cNvPr id="15" name="Text 13"/>
          <p:cNvSpPr/>
          <p:nvPr/>
        </p:nvSpPr>
        <p:spPr>
          <a:xfrm>
            <a:off x="1079473" y="2641600"/>
            <a:ext cx="10642334" cy="156468"/>
          </a:xfrm>
          <a:prstGeom prst="rect">
            <a:avLst/>
          </a:prstGeom>
          <a:noFill/>
          <a:ln/>
        </p:spPr>
        <p:txBody>
          <a:bodyPr wrap="none" lIns="0" tIns="0" rIns="0" bIns="0" rtlCol="0" anchor="t"/>
          <a:lstStyle/>
          <a:p>
            <a:pPr marL="0" indent="0" algn="l">
              <a:lnSpc>
                <a:spcPct val="121000"/>
              </a:lnSpc>
              <a:buNone/>
            </a:pPr>
            <a:r>
              <a:rPr lang="en-US" sz="850" b="1" dirty="0">
                <a:solidFill>
                  <a:srgbClr val="B995E6"/>
                </a:solidFill>
                <a:latin typeface="Hubot Sans Bold" pitchFamily="34" charset="0"/>
                <a:ea typeface="Hubot Sans Bold" pitchFamily="34" charset="-122"/>
                <a:cs typeface="Hubot Sans Bold" pitchFamily="34" charset="-120"/>
              </a:rPr>
              <a:t>4 · CLASSIFY</a:t>
            </a:r>
            <a:r>
              <a:rPr lang="en-US" sz="850" dirty="0">
                <a:solidFill>
                  <a:srgbClr val="FFFFFF"/>
                </a:solidFill>
                <a:latin typeface="Hubot Sans" pitchFamily="34" charset="0"/>
                <a:ea typeface="Hubot Sans" pitchFamily="34" charset="-122"/>
                <a:cs typeface="Hubot Sans" pitchFamily="34" charset="-120"/>
              </a:rPr>
              <a:t>  Laptop — IIoT security server</a:t>
            </a:r>
            <a:endParaRPr lang="en-US" sz="850" dirty="0"/>
          </a:p>
        </p:txBody>
      </p:sp>
      <p:sp>
        <p:nvSpPr>
          <p:cNvPr id="16" name="Shape 14"/>
          <p:cNvSpPr/>
          <p:nvPr/>
        </p:nvSpPr>
        <p:spPr>
          <a:xfrm>
            <a:off x="6006950" y="2997200"/>
            <a:ext cx="177796" cy="127000"/>
          </a:xfrm>
          <a:prstGeom prst="downArrow">
            <a:avLst/>
          </a:prstGeom>
          <a:solidFill>
            <a:srgbClr val="65D9C5"/>
          </a:solidFill>
          <a:ln/>
        </p:spPr>
      </p:sp>
      <p:sp>
        <p:nvSpPr>
          <p:cNvPr id="17" name="Shape 15"/>
          <p:cNvSpPr/>
          <p:nvPr/>
        </p:nvSpPr>
        <p:spPr>
          <a:xfrm>
            <a:off x="888978" y="3149600"/>
            <a:ext cx="10413739" cy="304800"/>
          </a:xfrm>
          <a:prstGeom prst="roundRect">
            <a:avLst>
              <a:gd name="adj" fmla="val 39999"/>
            </a:avLst>
          </a:prstGeom>
          <a:solidFill>
            <a:srgbClr val="211B30"/>
          </a:solidFill>
          <a:ln w="12700">
            <a:solidFill>
              <a:srgbClr val="9876C6"/>
            </a:solidFill>
            <a:prstDash val="solid"/>
          </a:ln>
        </p:spPr>
      </p:sp>
      <p:sp>
        <p:nvSpPr>
          <p:cNvPr id="18" name="Text 16"/>
          <p:cNvSpPr/>
          <p:nvPr/>
        </p:nvSpPr>
        <p:spPr>
          <a:xfrm>
            <a:off x="1079473" y="32191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FFFFFF"/>
                </a:solidFill>
                <a:latin typeface="Hubot Sans Bold" pitchFamily="34" charset="0"/>
                <a:ea typeface="Hubot Sans Bold" pitchFamily="34" charset="-122"/>
                <a:cs typeface="Hubot Sans Bold" pitchFamily="34" charset="-120"/>
              </a:rPr>
              <a:t>Message verification</a:t>
            </a:r>
            <a:r>
              <a:rPr lang="en-US" sz="800" dirty="0">
                <a:solidFill>
                  <a:srgbClr val="FFFFFF"/>
                </a:solidFill>
                <a:latin typeface="Hubot Sans" pitchFamily="34" charset="0"/>
                <a:ea typeface="Hubot Sans" pitchFamily="34" charset="-122"/>
                <a:cs typeface="Hubot Sans" pitchFamily="34" charset="-120"/>
              </a:rPr>
              <a:t>  ·  verify HMAC and freshness</a:t>
            </a:r>
            <a:endParaRPr lang="en-US" sz="800" dirty="0"/>
          </a:p>
        </p:txBody>
      </p:sp>
      <p:sp>
        <p:nvSpPr>
          <p:cNvPr id="19" name="Shape 17"/>
          <p:cNvSpPr/>
          <p:nvPr/>
        </p:nvSpPr>
        <p:spPr>
          <a:xfrm>
            <a:off x="6006950" y="3479800"/>
            <a:ext cx="177796" cy="114300"/>
          </a:xfrm>
          <a:prstGeom prst="downArrow">
            <a:avLst/>
          </a:prstGeom>
          <a:solidFill>
            <a:srgbClr val="65D9C5"/>
          </a:solidFill>
          <a:ln/>
        </p:spPr>
      </p:sp>
      <p:sp>
        <p:nvSpPr>
          <p:cNvPr id="20" name="Shape 18"/>
          <p:cNvSpPr/>
          <p:nvPr/>
        </p:nvSpPr>
        <p:spPr>
          <a:xfrm>
            <a:off x="888978" y="3619500"/>
            <a:ext cx="10413739" cy="304800"/>
          </a:xfrm>
          <a:prstGeom prst="roundRect">
            <a:avLst>
              <a:gd name="adj" fmla="val 39999"/>
            </a:avLst>
          </a:prstGeom>
          <a:solidFill>
            <a:srgbClr val="211B30"/>
          </a:solidFill>
          <a:ln w="12700">
            <a:solidFill>
              <a:srgbClr val="9876C6"/>
            </a:solidFill>
            <a:prstDash val="solid"/>
          </a:ln>
        </p:spPr>
      </p:sp>
      <p:sp>
        <p:nvSpPr>
          <p:cNvPr id="21" name="Text 19"/>
          <p:cNvSpPr/>
          <p:nvPr/>
        </p:nvSpPr>
        <p:spPr>
          <a:xfrm>
            <a:off x="1079473" y="36890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FFFFFF"/>
                </a:solidFill>
                <a:latin typeface="Hubot Sans Bold" pitchFamily="34" charset="0"/>
                <a:ea typeface="Hubot Sans Bold" pitchFamily="34" charset="-122"/>
                <a:cs typeface="Hubot Sans Bold" pitchFamily="34" charset="-120"/>
              </a:rPr>
              <a:t>Feature extraction</a:t>
            </a:r>
            <a:r>
              <a:rPr lang="en-US" sz="800" dirty="0">
                <a:solidFill>
                  <a:srgbClr val="FFFFFF"/>
                </a:solidFill>
                <a:latin typeface="Hubot Sans" pitchFamily="34" charset="0"/>
                <a:ea typeface="Hubot Sans" pitchFamily="34" charset="-122"/>
                <a:cs typeface="Hubot Sans" pitchFamily="34" charset="-120"/>
              </a:rPr>
              <a:t>  ·  sensor values, trends and historical deviations</a:t>
            </a:r>
            <a:endParaRPr lang="en-US" sz="800" dirty="0"/>
          </a:p>
        </p:txBody>
      </p:sp>
      <p:sp>
        <p:nvSpPr>
          <p:cNvPr id="22" name="Shape 20"/>
          <p:cNvSpPr/>
          <p:nvPr/>
        </p:nvSpPr>
        <p:spPr>
          <a:xfrm>
            <a:off x="6006950" y="3949700"/>
            <a:ext cx="177796" cy="114300"/>
          </a:xfrm>
          <a:prstGeom prst="downArrow">
            <a:avLst/>
          </a:prstGeom>
          <a:solidFill>
            <a:srgbClr val="65D9C5"/>
          </a:solidFill>
          <a:ln/>
        </p:spPr>
      </p:sp>
      <p:sp>
        <p:nvSpPr>
          <p:cNvPr id="23" name="Shape 21"/>
          <p:cNvSpPr/>
          <p:nvPr/>
        </p:nvSpPr>
        <p:spPr>
          <a:xfrm>
            <a:off x="888978" y="4089400"/>
            <a:ext cx="10413739" cy="304800"/>
          </a:xfrm>
          <a:prstGeom prst="roundRect">
            <a:avLst>
              <a:gd name="adj" fmla="val 39999"/>
            </a:avLst>
          </a:prstGeom>
          <a:solidFill>
            <a:srgbClr val="211B30"/>
          </a:solidFill>
          <a:ln w="12700">
            <a:solidFill>
              <a:srgbClr val="9876C6"/>
            </a:solidFill>
            <a:prstDash val="solid"/>
          </a:ln>
        </p:spPr>
      </p:sp>
      <p:sp>
        <p:nvSpPr>
          <p:cNvPr id="24" name="Text 22"/>
          <p:cNvSpPr/>
          <p:nvPr/>
        </p:nvSpPr>
        <p:spPr>
          <a:xfrm>
            <a:off x="1079473" y="41589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FFFFFF"/>
                </a:solidFill>
                <a:latin typeface="Hubot Sans Bold" pitchFamily="34" charset="0"/>
                <a:ea typeface="Hubot Sans Bold" pitchFamily="34" charset="-122"/>
                <a:cs typeface="Hubot Sans Bold" pitchFamily="34" charset="-120"/>
              </a:rPr>
              <a:t>Random Forest ML</a:t>
            </a:r>
            <a:r>
              <a:rPr lang="en-US" sz="800" dirty="0">
                <a:solidFill>
                  <a:srgbClr val="FFFFFF"/>
                </a:solidFill>
                <a:latin typeface="Hubot Sans" pitchFamily="34" charset="0"/>
                <a:ea typeface="Hubot Sans" pitchFamily="34" charset="-122"/>
                <a:cs typeface="Hubot Sans" pitchFamily="34" charset="-120"/>
              </a:rPr>
              <a:t>  ·  classify readings</a:t>
            </a:r>
            <a:endParaRPr lang="en-US" sz="800" dirty="0"/>
          </a:p>
        </p:txBody>
      </p:sp>
      <p:sp>
        <p:nvSpPr>
          <p:cNvPr id="25" name="Shape 23"/>
          <p:cNvSpPr/>
          <p:nvPr/>
        </p:nvSpPr>
        <p:spPr>
          <a:xfrm>
            <a:off x="6006950" y="4419600"/>
            <a:ext cx="177796" cy="114300"/>
          </a:xfrm>
          <a:prstGeom prst="downArrow">
            <a:avLst/>
          </a:prstGeom>
          <a:solidFill>
            <a:srgbClr val="65D9C5"/>
          </a:solidFill>
          <a:ln/>
        </p:spPr>
      </p:sp>
      <p:sp>
        <p:nvSpPr>
          <p:cNvPr id="26" name="Shape 24"/>
          <p:cNvSpPr/>
          <p:nvPr/>
        </p:nvSpPr>
        <p:spPr>
          <a:xfrm>
            <a:off x="888978" y="4559300"/>
            <a:ext cx="5105272" cy="355600"/>
          </a:xfrm>
          <a:prstGeom prst="roundRect">
            <a:avLst>
              <a:gd name="adj" fmla="val 34285"/>
            </a:avLst>
          </a:prstGeom>
          <a:solidFill>
            <a:srgbClr val="17352F"/>
          </a:solidFill>
          <a:ln w="12700">
            <a:solidFill>
              <a:srgbClr val="7BE0B2"/>
            </a:solidFill>
            <a:prstDash val="solid"/>
          </a:ln>
        </p:spPr>
      </p:sp>
      <p:sp>
        <p:nvSpPr>
          <p:cNvPr id="27" name="Text 25"/>
          <p:cNvSpPr/>
          <p:nvPr/>
        </p:nvSpPr>
        <p:spPr>
          <a:xfrm>
            <a:off x="1054074" y="4628832"/>
            <a:ext cx="5384665" cy="147241"/>
          </a:xfrm>
          <a:prstGeom prst="rect">
            <a:avLst/>
          </a:prstGeom>
          <a:noFill/>
          <a:ln/>
        </p:spPr>
        <p:txBody>
          <a:bodyPr wrap="none" lIns="0" tIns="0" rIns="0" bIns="0" rtlCol="0" anchor="t"/>
          <a:lstStyle/>
          <a:p>
            <a:pPr marL="0" indent="0" algn="l">
              <a:lnSpc>
                <a:spcPct val="121000"/>
              </a:lnSpc>
              <a:buNone/>
            </a:pPr>
            <a:r>
              <a:rPr lang="en-US" sz="800" b="1" dirty="0">
                <a:solidFill>
                  <a:srgbClr val="7BE0B2"/>
                </a:solidFill>
                <a:latin typeface="Hubot Sans Bold" pitchFamily="34" charset="0"/>
                <a:ea typeface="Hubot Sans Bold" pitchFamily="34" charset="-122"/>
                <a:cs typeface="Hubot Sans Bold" pitchFamily="34" charset="-120"/>
              </a:rPr>
              <a:t>NORMAL</a:t>
            </a:r>
            <a:r>
              <a:rPr lang="en-US" sz="800" dirty="0">
                <a:solidFill>
                  <a:srgbClr val="FFFFFF"/>
                </a:solidFill>
                <a:latin typeface="Hubot Sans" pitchFamily="34" charset="0"/>
                <a:ea typeface="Hubot Sans" pitchFamily="34" charset="-122"/>
                <a:cs typeface="Hubot Sans" pitchFamily="34" charset="-120"/>
              </a:rPr>
              <a:t>  ·  follow control policy</a:t>
            </a:r>
            <a:endParaRPr lang="en-US" sz="800" dirty="0"/>
          </a:p>
        </p:txBody>
      </p:sp>
      <p:sp>
        <p:nvSpPr>
          <p:cNvPr id="28" name="Shape 26"/>
          <p:cNvSpPr/>
          <p:nvPr/>
        </p:nvSpPr>
        <p:spPr>
          <a:xfrm>
            <a:off x="6197445" y="4559300"/>
            <a:ext cx="5105272" cy="355600"/>
          </a:xfrm>
          <a:prstGeom prst="roundRect">
            <a:avLst>
              <a:gd name="adj" fmla="val 34285"/>
            </a:avLst>
          </a:prstGeom>
          <a:solidFill>
            <a:srgbClr val="3A252B"/>
          </a:solidFill>
          <a:ln w="12700">
            <a:solidFill>
              <a:srgbClr val="FF9A8C"/>
            </a:solidFill>
            <a:prstDash val="solid"/>
          </a:ln>
        </p:spPr>
      </p:sp>
      <p:sp>
        <p:nvSpPr>
          <p:cNvPr id="29" name="Text 27"/>
          <p:cNvSpPr/>
          <p:nvPr/>
        </p:nvSpPr>
        <p:spPr>
          <a:xfrm>
            <a:off x="6362541" y="4628832"/>
            <a:ext cx="5384665" cy="147241"/>
          </a:xfrm>
          <a:prstGeom prst="rect">
            <a:avLst/>
          </a:prstGeom>
          <a:noFill/>
          <a:ln/>
        </p:spPr>
        <p:txBody>
          <a:bodyPr wrap="none" lIns="0" tIns="0" rIns="0" bIns="0" rtlCol="0" anchor="t"/>
          <a:lstStyle/>
          <a:p>
            <a:pPr marL="0" indent="0" algn="l">
              <a:lnSpc>
                <a:spcPct val="121000"/>
              </a:lnSpc>
              <a:buNone/>
            </a:pPr>
            <a:r>
              <a:rPr lang="en-US" sz="800" b="1" dirty="0">
                <a:solidFill>
                  <a:srgbClr val="FF9A8C"/>
                </a:solidFill>
                <a:latin typeface="Hubot Sans Bold" pitchFamily="34" charset="0"/>
                <a:ea typeface="Hubot Sans Bold" pitchFamily="34" charset="-122"/>
                <a:cs typeface="Hubot Sans Bold" pitchFamily="34" charset="-120"/>
              </a:rPr>
              <a:t>SUSPICIOUS</a:t>
            </a:r>
            <a:r>
              <a:rPr lang="en-US" sz="800" dirty="0">
                <a:solidFill>
                  <a:srgbClr val="FFFFFF"/>
                </a:solidFill>
                <a:latin typeface="Hubot Sans" pitchFamily="34" charset="0"/>
                <a:ea typeface="Hubot Sans" pitchFamily="34" charset="-122"/>
                <a:cs typeface="Hubot Sans" pitchFamily="34" charset="-120"/>
              </a:rPr>
              <a:t>  ·  alert and log evidence</a:t>
            </a:r>
            <a:endParaRPr lang="en-US" sz="800" dirty="0"/>
          </a:p>
        </p:txBody>
      </p:sp>
      <p:sp>
        <p:nvSpPr>
          <p:cNvPr id="30" name="Shape 28"/>
          <p:cNvSpPr/>
          <p:nvPr/>
        </p:nvSpPr>
        <p:spPr>
          <a:xfrm>
            <a:off x="6006950" y="4940300"/>
            <a:ext cx="177796" cy="127000"/>
          </a:xfrm>
          <a:prstGeom prst="downArrow">
            <a:avLst/>
          </a:prstGeom>
          <a:solidFill>
            <a:srgbClr val="65D9C5"/>
          </a:solidFill>
          <a:ln/>
        </p:spPr>
      </p:sp>
      <p:sp>
        <p:nvSpPr>
          <p:cNvPr id="31" name="Shape 29"/>
          <p:cNvSpPr/>
          <p:nvPr/>
        </p:nvSpPr>
        <p:spPr>
          <a:xfrm>
            <a:off x="888978" y="5092700"/>
            <a:ext cx="10413739" cy="355600"/>
          </a:xfrm>
          <a:prstGeom prst="roundRect">
            <a:avLst>
              <a:gd name="adj" fmla="val 34285"/>
            </a:avLst>
          </a:prstGeom>
          <a:solidFill>
            <a:srgbClr val="102B31"/>
          </a:solidFill>
          <a:ln w="12700">
            <a:solidFill>
              <a:srgbClr val="3B9D9A"/>
            </a:solidFill>
            <a:prstDash val="solid"/>
          </a:ln>
        </p:spPr>
      </p:sp>
      <p:sp>
        <p:nvSpPr>
          <p:cNvPr id="32" name="Text 30"/>
          <p:cNvSpPr/>
          <p:nvPr/>
        </p:nvSpPr>
        <p:spPr>
          <a:xfrm>
            <a:off x="1079473" y="51749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65D9C5"/>
                </a:solidFill>
                <a:latin typeface="Hubot Sans Bold" pitchFamily="34" charset="0"/>
                <a:ea typeface="Hubot Sans Bold" pitchFamily="34" charset="-122"/>
                <a:cs typeface="Hubot Sans Bold" pitchFamily="34" charset="-120"/>
              </a:rPr>
              <a:t>COMMUNICATION LINK 2</a:t>
            </a:r>
            <a:r>
              <a:rPr lang="en-US" sz="800" dirty="0">
                <a:solidFill>
                  <a:srgbClr val="FFFFFF"/>
                </a:solidFill>
                <a:latin typeface="Hubot Sans" pitchFamily="34" charset="0"/>
                <a:ea typeface="Hubot Sans" pitchFamily="34" charset="-122"/>
                <a:cs typeface="Hubot Sans" pitchFamily="34" charset="-120"/>
              </a:rPr>
              <a:t>  authenticated commands  ·  replay protection · expiry checks</a:t>
            </a:r>
            <a:endParaRPr lang="en-US" sz="800" dirty="0"/>
          </a:p>
        </p:txBody>
      </p:sp>
      <p:sp>
        <p:nvSpPr>
          <p:cNvPr id="33" name="Shape 31"/>
          <p:cNvSpPr/>
          <p:nvPr/>
        </p:nvSpPr>
        <p:spPr>
          <a:xfrm>
            <a:off x="6006950" y="5473700"/>
            <a:ext cx="177796" cy="114300"/>
          </a:xfrm>
          <a:prstGeom prst="downArrow">
            <a:avLst/>
          </a:prstGeom>
          <a:solidFill>
            <a:srgbClr val="65D9C5"/>
          </a:solidFill>
          <a:ln/>
        </p:spPr>
      </p:sp>
      <p:sp>
        <p:nvSpPr>
          <p:cNvPr id="34" name="Shape 32"/>
          <p:cNvSpPr/>
          <p:nvPr/>
        </p:nvSpPr>
        <p:spPr>
          <a:xfrm>
            <a:off x="888978" y="5613400"/>
            <a:ext cx="10413739" cy="406400"/>
          </a:xfrm>
          <a:prstGeom prst="roundRect">
            <a:avLst>
              <a:gd name="adj" fmla="val 29999"/>
            </a:avLst>
          </a:prstGeom>
          <a:solidFill>
            <a:srgbClr val="13263B"/>
          </a:solidFill>
          <a:ln w="12700">
            <a:solidFill>
              <a:srgbClr val="4B88B5"/>
            </a:solidFill>
            <a:prstDash val="solid"/>
          </a:ln>
        </p:spPr>
      </p:sp>
      <p:sp>
        <p:nvSpPr>
          <p:cNvPr id="35" name="Text 33"/>
          <p:cNvSpPr/>
          <p:nvPr/>
        </p:nvSpPr>
        <p:spPr>
          <a:xfrm>
            <a:off x="1079473" y="56829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7FB7DF"/>
                </a:solidFill>
                <a:latin typeface="Hubot Sans Bold" pitchFamily="34" charset="0"/>
                <a:ea typeface="Hubot Sans Bold" pitchFamily="34" charset="-122"/>
                <a:cs typeface="Hubot Sans Bold" pitchFamily="34" charset="-120"/>
              </a:rPr>
              <a:t>ESP32 #2 — PLC-like controller</a:t>
            </a:r>
            <a:r>
              <a:rPr lang="en-US" sz="800" dirty="0">
                <a:solidFill>
                  <a:srgbClr val="FFFFFF"/>
                </a:solidFill>
                <a:latin typeface="Hubot Sans" pitchFamily="34" charset="0"/>
                <a:ea typeface="Hubot Sans" pitchFamily="34" charset="-122"/>
                <a:cs typeface="Hubot Sans" pitchFamily="34" charset="-120"/>
              </a:rPr>
              <a:t>  ·  Verify commands  ·  Enforce local safety limits  ·  Execute control logic</a:t>
            </a:r>
            <a:endParaRPr lang="en-US" sz="800" dirty="0"/>
          </a:p>
        </p:txBody>
      </p:sp>
      <p:sp>
        <p:nvSpPr>
          <p:cNvPr id="36" name="Shape 34"/>
          <p:cNvSpPr/>
          <p:nvPr/>
        </p:nvSpPr>
        <p:spPr>
          <a:xfrm>
            <a:off x="888978" y="6096000"/>
            <a:ext cx="10413739" cy="330200"/>
          </a:xfrm>
          <a:prstGeom prst="roundRect">
            <a:avLst>
              <a:gd name="adj" fmla="val 36922"/>
            </a:avLst>
          </a:prstGeom>
          <a:solidFill>
            <a:srgbClr val="102531"/>
          </a:solidFill>
          <a:ln w="12700">
            <a:solidFill>
              <a:srgbClr val="2E6875"/>
            </a:solidFill>
            <a:prstDash val="solid"/>
          </a:ln>
        </p:spPr>
      </p:sp>
      <p:sp>
        <p:nvSpPr>
          <p:cNvPr id="37" name="Text 35"/>
          <p:cNvSpPr/>
          <p:nvPr/>
        </p:nvSpPr>
        <p:spPr>
          <a:xfrm>
            <a:off x="1079473" y="6165532"/>
            <a:ext cx="10642334" cy="147241"/>
          </a:xfrm>
          <a:prstGeom prst="rect">
            <a:avLst/>
          </a:prstGeom>
          <a:noFill/>
          <a:ln/>
        </p:spPr>
        <p:txBody>
          <a:bodyPr wrap="none" lIns="0" tIns="0" rIns="0" bIns="0" rtlCol="0" anchor="t"/>
          <a:lstStyle/>
          <a:p>
            <a:pPr marL="0" indent="0" algn="l">
              <a:lnSpc>
                <a:spcPct val="121000"/>
              </a:lnSpc>
              <a:buNone/>
            </a:pPr>
            <a:r>
              <a:rPr lang="en-US" sz="800" b="1" dirty="0">
                <a:solidFill>
                  <a:srgbClr val="FFFFFF"/>
                </a:solidFill>
                <a:latin typeface="Hubot Sans Bold" pitchFamily="34" charset="0"/>
                <a:ea typeface="Hubot Sans Bold" pitchFamily="34" charset="-122"/>
                <a:cs typeface="Hubot Sans Bold" pitchFamily="34" charset="-120"/>
              </a:rPr>
              <a:t>5 · ACTUATORS</a:t>
            </a:r>
            <a:r>
              <a:rPr lang="en-US" sz="800" dirty="0">
                <a:solidFill>
                  <a:srgbClr val="FFFFFF"/>
                </a:solidFill>
                <a:latin typeface="Hubot Sans" pitchFamily="34" charset="0"/>
                <a:ea typeface="Hubot Sans" pitchFamily="34" charset="-122"/>
                <a:cs typeface="Hubot Sans" pitchFamily="34" charset="-120"/>
              </a:rPr>
              <a:t>  ·  LED · buzzer · simulated pump / diversion valve</a:t>
            </a:r>
            <a:endParaRPr lang="en-US" sz="800" dirty="0"/>
          </a:p>
        </p:txBody>
      </p:sp>
      <p:sp>
        <p:nvSpPr>
          <p:cNvPr id="38" name="Text 36"/>
          <p:cNvSpPr/>
          <p:nvPr/>
        </p:nvSpPr>
        <p:spPr>
          <a:xfrm>
            <a:off x="403215" y="6546453"/>
            <a:ext cx="11788480" cy="128588"/>
          </a:xfrm>
          <a:prstGeom prst="rect">
            <a:avLst/>
          </a:prstGeom>
          <a:noFill/>
          <a:ln/>
        </p:spPr>
        <p:txBody>
          <a:bodyPr wrap="none" lIns="0" tIns="0" rIns="0" bIns="0" rtlCol="0" anchor="t"/>
          <a:lstStyle/>
          <a:p>
            <a:pPr marL="0" indent="0" algn="l">
              <a:lnSpc>
                <a:spcPct val="113000"/>
              </a:lnSpc>
              <a:buNone/>
            </a:pPr>
            <a:r>
              <a:rPr lang="en-US" sz="750" dirty="0">
                <a:solidFill>
                  <a:srgbClr val="7E9AA8"/>
                </a:solidFill>
                <a:latin typeface="Hubot Sans" pitchFamily="34" charset="0"/>
                <a:ea typeface="Hubot Sans" pitchFamily="34" charset="-122"/>
                <a:cs typeface="Hubot Sans" pitchFamily="34" charset="-120"/>
              </a:rPr>
              <a:t>CONTROL PRINCIPLE</a:t>
            </a:r>
            <a:r>
              <a:rPr lang="en-US" sz="750" dirty="0">
                <a:solidFill>
                  <a:srgbClr val="A6C4B8"/>
                </a:solidFill>
                <a:latin typeface="Hubot Sans" pitchFamily="34" charset="0"/>
                <a:ea typeface="Hubot Sans" pitchFamily="34" charset="-122"/>
                <a:cs typeface="Hubot Sans" pitchFamily="34" charset="-120"/>
              </a:rPr>
              <a:t>  ·  </a:t>
            </a:r>
            <a:r>
              <a:rPr lang="en-US" sz="750" dirty="0">
                <a:solidFill>
                  <a:srgbClr val="C7D6DF"/>
                </a:solidFill>
                <a:latin typeface="Hubot Sans" pitchFamily="34" charset="0"/>
                <a:ea typeface="Hubot Sans" pitchFamily="34" charset="-122"/>
                <a:cs typeface="Hubot Sans" pitchFamily="34" charset="-120"/>
              </a:rPr>
              <a:t>verify the sender, prove freshness, classify the signal, then enforce safety locally.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3460"/>
            <a:ext cx="11582110"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ARCHITECTURE 1 · PROTECTION LAYERS</a:t>
            </a:r>
            <a:endParaRPr lang="en-US" sz="1100" dirty="0"/>
          </a:p>
        </p:txBody>
      </p:sp>
      <p:sp>
        <p:nvSpPr>
          <p:cNvPr id="3" name="Text 1"/>
          <p:cNvSpPr/>
          <p:nvPr/>
        </p:nvSpPr>
        <p:spPr>
          <a:xfrm>
            <a:off x="609585" y="900650"/>
            <a:ext cx="10972526" cy="533400"/>
          </a:xfrm>
          <a:prstGeom prst="rect">
            <a:avLst/>
          </a:prstGeom>
          <a:noFill/>
          <a:ln/>
        </p:spPr>
        <p:txBody>
          <a:bodyPr wrap="none" lIns="0" tIns="0" rIns="0" bIns="0" rtlCol="0" anchor="t"/>
          <a:lstStyle/>
          <a:p>
            <a:pPr marL="0" indent="0" algn="l">
              <a:lnSpc>
                <a:spcPct val="88000"/>
              </a:lnSpc>
              <a:buNone/>
            </a:pPr>
            <a:r>
              <a:rPr lang="en-US" sz="4000" b="1" kern="100" spc="-20" dirty="0">
                <a:solidFill>
                  <a:srgbClr val="FF5A3C"/>
                </a:solidFill>
                <a:latin typeface="Encode Sans Semi Condensed Bold" pitchFamily="34" charset="0"/>
                <a:ea typeface="Encode Sans Semi Condensed Bold" pitchFamily="34" charset="-122"/>
                <a:cs typeface="Encode Sans Semi Condensed Bold" pitchFamily="34" charset="-120"/>
              </a:rPr>
              <a:t>What the first architecture protects</a:t>
            </a:r>
            <a:endParaRPr lang="en-US" sz="4000" dirty="0"/>
          </a:p>
        </p:txBody>
      </p:sp>
      <p:sp>
        <p:nvSpPr>
          <p:cNvPr id="4" name="Shape 2"/>
          <p:cNvSpPr/>
          <p:nvPr/>
        </p:nvSpPr>
        <p:spPr>
          <a:xfrm>
            <a:off x="609585" y="1577280"/>
            <a:ext cx="2514537" cy="2857103"/>
          </a:xfrm>
          <a:prstGeom prst="rect">
            <a:avLst/>
          </a:prstGeom>
          <a:solidFill>
            <a:srgbClr val="1E4A3D"/>
          </a:solidFill>
          <a:ln/>
        </p:spPr>
      </p:sp>
      <p:sp>
        <p:nvSpPr>
          <p:cNvPr id="5" name="Shape 3"/>
          <p:cNvSpPr/>
          <p:nvPr/>
        </p:nvSpPr>
        <p:spPr>
          <a:xfrm>
            <a:off x="812780" y="1805880"/>
            <a:ext cx="330192" cy="330200"/>
          </a:xfrm>
          <a:prstGeom prst="ellipse">
            <a:avLst/>
          </a:prstGeom>
          <a:solidFill>
            <a:srgbClr val="FF8050"/>
          </a:solidFill>
          <a:ln/>
        </p:spPr>
      </p:sp>
      <p:sp>
        <p:nvSpPr>
          <p:cNvPr id="6" name="Text 4"/>
          <p:cNvSpPr/>
          <p:nvPr/>
        </p:nvSpPr>
        <p:spPr>
          <a:xfrm>
            <a:off x="885307" y="1888430"/>
            <a:ext cx="794722"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01</a:t>
            </a:r>
            <a:endParaRPr lang="en-US" sz="1300" dirty="0"/>
          </a:p>
        </p:txBody>
      </p:sp>
      <p:sp>
        <p:nvSpPr>
          <p:cNvPr id="7" name="Text 5"/>
          <p:cNvSpPr/>
          <p:nvPr/>
        </p:nvSpPr>
        <p:spPr>
          <a:xfrm>
            <a:off x="812780" y="2224980"/>
            <a:ext cx="2108147"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Identity &amp; integrity</a:t>
            </a:r>
            <a:endParaRPr lang="en-US" sz="2000" dirty="0"/>
          </a:p>
        </p:txBody>
      </p:sp>
      <p:sp>
        <p:nvSpPr>
          <p:cNvPr id="8" name="Text 6"/>
          <p:cNvSpPr/>
          <p:nvPr/>
        </p:nvSpPr>
        <p:spPr>
          <a:xfrm>
            <a:off x="812780" y="3011269"/>
            <a:ext cx="2108147" cy="1196578"/>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ESP32 #1 adds device identity, timestamps, sequence numbers, and HMAC-SHA-256 integrity protection.</a:t>
            </a:r>
            <a:endParaRPr lang="en-US" sz="1300" dirty="0"/>
          </a:p>
        </p:txBody>
      </p:sp>
      <p:sp>
        <p:nvSpPr>
          <p:cNvPr id="9" name="Shape 7"/>
          <p:cNvSpPr/>
          <p:nvPr/>
        </p:nvSpPr>
        <p:spPr>
          <a:xfrm>
            <a:off x="3428914" y="1577280"/>
            <a:ext cx="2514537" cy="2857103"/>
          </a:xfrm>
          <a:prstGeom prst="rect">
            <a:avLst/>
          </a:prstGeom>
          <a:solidFill>
            <a:srgbClr val="1E4A3D"/>
          </a:solidFill>
          <a:ln/>
        </p:spPr>
      </p:sp>
      <p:sp>
        <p:nvSpPr>
          <p:cNvPr id="10" name="Shape 8"/>
          <p:cNvSpPr/>
          <p:nvPr/>
        </p:nvSpPr>
        <p:spPr>
          <a:xfrm>
            <a:off x="3632109" y="1805880"/>
            <a:ext cx="330192" cy="330200"/>
          </a:xfrm>
          <a:prstGeom prst="ellipse">
            <a:avLst/>
          </a:prstGeom>
          <a:solidFill>
            <a:srgbClr val="FF8050"/>
          </a:solidFill>
          <a:ln/>
        </p:spPr>
      </p:sp>
      <p:sp>
        <p:nvSpPr>
          <p:cNvPr id="11" name="Text 9"/>
          <p:cNvSpPr/>
          <p:nvPr/>
        </p:nvSpPr>
        <p:spPr>
          <a:xfrm>
            <a:off x="3687373" y="1888430"/>
            <a:ext cx="82925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02</a:t>
            </a:r>
            <a:endParaRPr lang="en-US" sz="1300" dirty="0"/>
          </a:p>
        </p:txBody>
      </p:sp>
      <p:sp>
        <p:nvSpPr>
          <p:cNvPr id="12" name="Text 10"/>
          <p:cNvSpPr/>
          <p:nvPr/>
        </p:nvSpPr>
        <p:spPr>
          <a:xfrm>
            <a:off x="3632109" y="2224980"/>
            <a:ext cx="2108147"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Authenticated transport</a:t>
            </a:r>
            <a:endParaRPr lang="en-US" sz="2000" dirty="0"/>
          </a:p>
        </p:txBody>
      </p:sp>
      <p:sp>
        <p:nvSpPr>
          <p:cNvPr id="13" name="Text 11"/>
          <p:cNvSpPr/>
          <p:nvPr/>
        </p:nvSpPr>
        <p:spPr>
          <a:xfrm>
            <a:off x="3632109" y="3011269"/>
            <a:ext cx="2108147" cy="957263"/>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Wi-Fi and HTTPS/MQTT over TLS add authenticated transport and replay protection.</a:t>
            </a:r>
            <a:endParaRPr lang="en-US" sz="1300" dirty="0"/>
          </a:p>
        </p:txBody>
      </p:sp>
      <p:sp>
        <p:nvSpPr>
          <p:cNvPr id="14" name="Shape 12"/>
          <p:cNvSpPr/>
          <p:nvPr/>
        </p:nvSpPr>
        <p:spPr>
          <a:xfrm>
            <a:off x="6248244" y="1577280"/>
            <a:ext cx="2514537" cy="2857103"/>
          </a:xfrm>
          <a:prstGeom prst="rect">
            <a:avLst/>
          </a:prstGeom>
          <a:solidFill>
            <a:srgbClr val="1E4A3D"/>
          </a:solidFill>
          <a:ln/>
        </p:spPr>
      </p:sp>
      <p:sp>
        <p:nvSpPr>
          <p:cNvPr id="15" name="Shape 13"/>
          <p:cNvSpPr/>
          <p:nvPr/>
        </p:nvSpPr>
        <p:spPr>
          <a:xfrm>
            <a:off x="6451439" y="1805880"/>
            <a:ext cx="330192" cy="330200"/>
          </a:xfrm>
          <a:prstGeom prst="ellipse">
            <a:avLst/>
          </a:prstGeom>
          <a:solidFill>
            <a:srgbClr val="FF8050"/>
          </a:solidFill>
          <a:ln/>
        </p:spPr>
      </p:sp>
      <p:sp>
        <p:nvSpPr>
          <p:cNvPr id="16" name="Text 14"/>
          <p:cNvSpPr/>
          <p:nvPr/>
        </p:nvSpPr>
        <p:spPr>
          <a:xfrm>
            <a:off x="6506404" y="1888430"/>
            <a:ext cx="829746"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03</a:t>
            </a:r>
            <a:endParaRPr lang="en-US" sz="1300" dirty="0"/>
          </a:p>
        </p:txBody>
      </p:sp>
      <p:sp>
        <p:nvSpPr>
          <p:cNvPr id="17" name="Text 15"/>
          <p:cNvSpPr/>
          <p:nvPr/>
        </p:nvSpPr>
        <p:spPr>
          <a:xfrm>
            <a:off x="6451439" y="2224980"/>
            <a:ext cx="2108147"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Server verification</a:t>
            </a:r>
            <a:endParaRPr lang="en-US" sz="2000" dirty="0"/>
          </a:p>
        </p:txBody>
      </p:sp>
      <p:sp>
        <p:nvSpPr>
          <p:cNvPr id="18" name="Text 16"/>
          <p:cNvSpPr/>
          <p:nvPr/>
        </p:nvSpPr>
        <p:spPr>
          <a:xfrm>
            <a:off x="6451439" y="3011269"/>
            <a:ext cx="2108147" cy="1196578"/>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The server verifies HMAC and freshness, extracts trends and deviations, then classifies readings with Random Forest.</a:t>
            </a:r>
            <a:endParaRPr lang="en-US" sz="1300" dirty="0"/>
          </a:p>
        </p:txBody>
      </p:sp>
      <p:sp>
        <p:nvSpPr>
          <p:cNvPr id="19" name="Shape 17"/>
          <p:cNvSpPr/>
          <p:nvPr/>
        </p:nvSpPr>
        <p:spPr>
          <a:xfrm>
            <a:off x="9067573" y="1577280"/>
            <a:ext cx="2514537" cy="2857103"/>
          </a:xfrm>
          <a:prstGeom prst="rect">
            <a:avLst/>
          </a:prstGeom>
          <a:solidFill>
            <a:srgbClr val="1E4A3D"/>
          </a:solidFill>
          <a:ln/>
        </p:spPr>
      </p:sp>
      <p:sp>
        <p:nvSpPr>
          <p:cNvPr id="20" name="Shape 18"/>
          <p:cNvSpPr/>
          <p:nvPr/>
        </p:nvSpPr>
        <p:spPr>
          <a:xfrm>
            <a:off x="9270768" y="1805880"/>
            <a:ext cx="330192" cy="330200"/>
          </a:xfrm>
          <a:prstGeom prst="ellipse">
            <a:avLst/>
          </a:prstGeom>
          <a:solidFill>
            <a:srgbClr val="FF8050"/>
          </a:solidFill>
          <a:ln/>
        </p:spPr>
      </p:sp>
      <p:sp>
        <p:nvSpPr>
          <p:cNvPr id="21" name="Text 19"/>
          <p:cNvSpPr/>
          <p:nvPr/>
        </p:nvSpPr>
        <p:spPr>
          <a:xfrm>
            <a:off x="9320376" y="1888430"/>
            <a:ext cx="84056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04</a:t>
            </a:r>
            <a:endParaRPr lang="en-US" sz="1300" dirty="0"/>
          </a:p>
        </p:txBody>
      </p:sp>
      <p:sp>
        <p:nvSpPr>
          <p:cNvPr id="22" name="Text 20"/>
          <p:cNvSpPr/>
          <p:nvPr/>
        </p:nvSpPr>
        <p:spPr>
          <a:xfrm>
            <a:off x="9270768" y="2224980"/>
            <a:ext cx="2108147"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Constrained response</a:t>
            </a:r>
            <a:endParaRPr lang="en-US" sz="2000" dirty="0"/>
          </a:p>
        </p:txBody>
      </p:sp>
      <p:sp>
        <p:nvSpPr>
          <p:cNvPr id="23" name="Text 21"/>
          <p:cNvSpPr/>
          <p:nvPr/>
        </p:nvSpPr>
        <p:spPr>
          <a:xfrm>
            <a:off x="9270768" y="3011269"/>
            <a:ext cx="2108147" cy="1196578"/>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Suspicious readings trigger alerts and evidence logging; verified commands continue through local safety limits.</a:t>
            </a:r>
            <a:endParaRPr lang="en-US" sz="1300" dirty="0"/>
          </a:p>
        </p:txBody>
      </p:sp>
      <p:sp>
        <p:nvSpPr>
          <p:cNvPr id="24" name="Rectangle 23">
            <a:extLst>
              <a:ext uri="{FF2B5EF4-FFF2-40B4-BE49-F238E27FC236}">
                <a16:creationId xmlns:a16="http://schemas.microsoft.com/office/drawing/2014/main" id="{D4E04299-E65D-5B71-F365-1FEE11B6D750}"/>
              </a:ext>
            </a:extLst>
          </p:cNvPr>
          <p:cNvSpPr/>
          <p:nvPr/>
        </p:nvSpPr>
        <p:spPr>
          <a:xfrm>
            <a:off x="10998389" y="6383547"/>
            <a:ext cx="1167442" cy="405442"/>
          </a:xfrm>
          <a:prstGeom prst="rect">
            <a:avLst/>
          </a:prstGeom>
          <a:solidFill>
            <a:srgbClr val="0E2A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41F27B3-8DA0-DE0B-C0F3-E82E3BEE86B3}"/>
              </a:ext>
            </a:extLst>
          </p:cNvPr>
          <p:cNvSpPr/>
          <p:nvPr/>
        </p:nvSpPr>
        <p:spPr>
          <a:xfrm>
            <a:off x="11110823" y="6569296"/>
            <a:ext cx="1009290" cy="212504"/>
          </a:xfrm>
          <a:prstGeom prst="rect">
            <a:avLst/>
          </a:prstGeom>
          <a:solidFill>
            <a:srgbClr val="0B12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479413" y="110917"/>
            <a:ext cx="11712282"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67E8D2"/>
                </a:solidFill>
                <a:latin typeface="Red Hat Mono" pitchFamily="34" charset="0"/>
                <a:ea typeface="Red Hat Mono" pitchFamily="34" charset="-122"/>
                <a:cs typeface="Red Hat Mono" pitchFamily="34" charset="-120"/>
              </a:rPr>
              <a:t>ARCHITECTURE 2 · NETWORK PATH</a:t>
            </a:r>
            <a:endParaRPr lang="en-US" sz="1100" dirty="0"/>
          </a:p>
        </p:txBody>
      </p:sp>
      <p:sp>
        <p:nvSpPr>
          <p:cNvPr id="3" name="Text 1"/>
          <p:cNvSpPr/>
          <p:nvPr/>
        </p:nvSpPr>
        <p:spPr>
          <a:xfrm>
            <a:off x="479413" y="382080"/>
            <a:ext cx="11232869" cy="359966"/>
          </a:xfrm>
          <a:prstGeom prst="rect">
            <a:avLst/>
          </a:prstGeom>
          <a:noFill/>
          <a:ln/>
        </p:spPr>
        <p:txBody>
          <a:bodyPr wrap="none" lIns="0" tIns="0" rIns="0" bIns="0" rtlCol="0" anchor="t"/>
          <a:lstStyle/>
          <a:p>
            <a:pPr marL="0" indent="0" algn="l">
              <a:lnSpc>
                <a:spcPct val="87000"/>
              </a:lnSpc>
              <a:buNone/>
            </a:pPr>
            <a:r>
              <a:rPr lang="en-US" sz="2700" b="1" kern="100" spc="-13" dirty="0">
                <a:solidFill>
                  <a:srgbClr val="F4F7FB"/>
                </a:solidFill>
                <a:latin typeface="Encode Sans Semi Condensed Bold" pitchFamily="34" charset="0"/>
                <a:ea typeface="Encode Sans Semi Condensed Bold" pitchFamily="34" charset="-122"/>
                <a:cs typeface="Encode Sans Semi Condensed Bold" pitchFamily="34" charset="-120"/>
              </a:rPr>
              <a:t>Network threat detection and server security</a:t>
            </a:r>
            <a:endParaRPr lang="en-US" sz="2700" dirty="0"/>
          </a:p>
        </p:txBody>
      </p:sp>
      <p:sp>
        <p:nvSpPr>
          <p:cNvPr id="4" name="Text 2"/>
          <p:cNvSpPr/>
          <p:nvPr/>
        </p:nvSpPr>
        <p:spPr>
          <a:xfrm>
            <a:off x="479413" y="907018"/>
            <a:ext cx="11712282" cy="205680"/>
          </a:xfrm>
          <a:prstGeom prst="rect">
            <a:avLst/>
          </a:prstGeom>
          <a:noFill/>
          <a:ln/>
        </p:spPr>
        <p:txBody>
          <a:bodyPr wrap="none" lIns="0" tIns="0" rIns="0" bIns="0" rtlCol="0" anchor="t"/>
          <a:lstStyle/>
          <a:p>
            <a:pPr marL="0" indent="0" algn="l">
              <a:lnSpc>
                <a:spcPct val="113000"/>
              </a:lnSpc>
              <a:buNone/>
            </a:pPr>
            <a:r>
              <a:rPr lang="en-US" sz="1200" dirty="0">
                <a:solidFill>
                  <a:srgbClr val="9FB3C8"/>
                </a:solidFill>
                <a:latin typeface="Hubot Sans" pitchFamily="34" charset="0"/>
                <a:ea typeface="Hubot Sans" pitchFamily="34" charset="-122"/>
                <a:cs typeface="Hubot Sans" pitchFamily="34" charset="-120"/>
              </a:rPr>
              <a:t>Observe IIoT traffic, detect anomalous behavior, and preserve evidence for investigation.</a:t>
            </a:r>
            <a:endParaRPr lang="en-US" sz="1200" dirty="0"/>
          </a:p>
        </p:txBody>
      </p:sp>
      <p:sp>
        <p:nvSpPr>
          <p:cNvPr id="5" name="Shape 3"/>
          <p:cNvSpPr/>
          <p:nvPr/>
        </p:nvSpPr>
        <p:spPr>
          <a:xfrm>
            <a:off x="888978" y="1219200"/>
            <a:ext cx="10413739" cy="609600"/>
          </a:xfrm>
          <a:prstGeom prst="roundRect">
            <a:avLst/>
          </a:prstGeom>
          <a:solidFill>
            <a:srgbClr val="16304A"/>
          </a:solidFill>
          <a:ln w="12700">
            <a:solidFill>
              <a:srgbClr val="2C5574"/>
            </a:solidFill>
            <a:prstDash val="solid"/>
          </a:ln>
        </p:spPr>
      </p:sp>
      <p:sp>
        <p:nvSpPr>
          <p:cNvPr id="6" name="Text 4"/>
          <p:cNvSpPr/>
          <p:nvPr/>
        </p:nvSpPr>
        <p:spPr>
          <a:xfrm>
            <a:off x="911202" y="1412200"/>
            <a:ext cx="10369291" cy="227310"/>
          </a:xfrm>
          <a:prstGeom prst="rect">
            <a:avLst/>
          </a:prstGeom>
          <a:noFill/>
          <a:ln/>
        </p:spPr>
        <p:txBody>
          <a:bodyPr wrap="none" lIns="0" tIns="0" rIns="0" bIns="0" rtlCol="0" anchor="t"/>
          <a:lstStyle/>
          <a:p>
            <a:pPr marL="0" indent="0" algn="ctr">
              <a:lnSpc>
                <a:spcPct val="121000"/>
              </a:lnSpc>
              <a:buNone/>
            </a:pPr>
            <a:r>
              <a:rPr lang="en-US" sz="1200" b="1" dirty="0">
                <a:solidFill>
                  <a:srgbClr val="F4F7FB"/>
                </a:solidFill>
                <a:latin typeface="Hubot Sans Bold" pitchFamily="34" charset="0"/>
                <a:ea typeface="Hubot Sans Bold" pitchFamily="34" charset="-122"/>
                <a:cs typeface="Hubot Sans Bold" pitchFamily="34" charset="-120"/>
              </a:rPr>
              <a:t>1. IIoT network traffic</a:t>
            </a:r>
            <a:r>
              <a:rPr lang="en-US" sz="1200" dirty="0">
                <a:solidFill>
                  <a:srgbClr val="F4F7FB"/>
                </a:solidFill>
                <a:latin typeface="Hubot Sans" pitchFamily="34" charset="0"/>
                <a:ea typeface="Hubot Sans" pitchFamily="34" charset="-122"/>
                <a:cs typeface="Hubot Sans" pitchFamily="34" charset="-120"/>
              </a:rPr>
              <a:t> · ESP32 #1 </a:t>
            </a: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F4F7FB"/>
                </a:solidFill>
                <a:latin typeface="Hubot Sans" pitchFamily="34" charset="0"/>
                <a:ea typeface="Hubot Sans" pitchFamily="34" charset="-122"/>
                <a:cs typeface="Hubot Sans" pitchFamily="34" charset="-120"/>
              </a:rPr>
              <a:t> laptop / server </a:t>
            </a: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F4F7FB"/>
                </a:solidFill>
                <a:latin typeface="Hubot Sans" pitchFamily="34" charset="0"/>
                <a:ea typeface="Hubot Sans" pitchFamily="34" charset="-122"/>
                <a:cs typeface="Hubot Sans" pitchFamily="34" charset="-120"/>
              </a:rPr>
              <a:t> ESP32 #2</a:t>
            </a:r>
            <a:endParaRPr lang="en-US" sz="1200" dirty="0"/>
          </a:p>
        </p:txBody>
      </p:sp>
      <p:sp>
        <p:nvSpPr>
          <p:cNvPr id="7" name="Shape 5"/>
          <p:cNvSpPr/>
          <p:nvPr/>
        </p:nvSpPr>
        <p:spPr>
          <a:xfrm rot="5400000">
            <a:off x="5968850" y="1854200"/>
            <a:ext cx="253994" cy="127000"/>
          </a:xfrm>
          <a:prstGeom prst="rightArrow">
            <a:avLst/>
          </a:prstGeom>
          <a:solidFill>
            <a:srgbClr val="67E8D2"/>
          </a:solidFill>
          <a:ln/>
        </p:spPr>
      </p:sp>
      <p:sp>
        <p:nvSpPr>
          <p:cNvPr id="8" name="Shape 6"/>
          <p:cNvSpPr/>
          <p:nvPr/>
        </p:nvSpPr>
        <p:spPr>
          <a:xfrm>
            <a:off x="888978" y="1981200"/>
            <a:ext cx="10413739" cy="533400"/>
          </a:xfrm>
          <a:prstGeom prst="roundRect">
            <a:avLst/>
          </a:prstGeom>
          <a:solidFill>
            <a:srgbClr val="173A43"/>
          </a:solidFill>
          <a:ln w="12700">
            <a:solidFill>
              <a:srgbClr val="2D6D73"/>
            </a:solidFill>
            <a:prstDash val="solid"/>
          </a:ln>
        </p:spPr>
      </p:sp>
      <p:sp>
        <p:nvSpPr>
          <p:cNvPr id="9" name="Text 7"/>
          <p:cNvSpPr/>
          <p:nvPr/>
        </p:nvSpPr>
        <p:spPr>
          <a:xfrm>
            <a:off x="911202" y="2148344"/>
            <a:ext cx="10369291" cy="202505"/>
          </a:xfrm>
          <a:prstGeom prst="rect">
            <a:avLst/>
          </a:prstGeom>
          <a:noFill/>
          <a:ln/>
        </p:spPr>
        <p:txBody>
          <a:bodyPr wrap="none" lIns="0" tIns="0" rIns="0" bIns="0" rtlCol="0" anchor="t"/>
          <a:lstStyle/>
          <a:p>
            <a:pPr marL="0" indent="0" algn="ctr">
              <a:lnSpc>
                <a:spcPct val="121000"/>
              </a:lnSpc>
              <a:buNone/>
            </a:pPr>
            <a:r>
              <a:rPr lang="en-US" sz="1100" b="1" dirty="0">
                <a:solidFill>
                  <a:srgbClr val="E9FFFB"/>
                </a:solidFill>
                <a:latin typeface="Hubot Sans Bold" pitchFamily="34" charset="0"/>
                <a:ea typeface="Hubot Sans Bold" pitchFamily="34" charset="-122"/>
                <a:cs typeface="Hubot Sans Bold" pitchFamily="34" charset="-120"/>
              </a:rPr>
              <a:t>2. TShark / Wireshark capture</a:t>
            </a:r>
            <a:r>
              <a:rPr lang="en-US" sz="1100" dirty="0">
                <a:solidFill>
                  <a:srgbClr val="E9FFFB"/>
                </a:solidFill>
                <a:latin typeface="Hubot Sans" pitchFamily="34" charset="0"/>
                <a:ea typeface="Hubot Sans" pitchFamily="34" charset="-122"/>
                <a:cs typeface="Hubot Sans" pitchFamily="34" charset="-120"/>
              </a:rPr>
              <a:t> · capture observable network packets</a:t>
            </a:r>
            <a:endParaRPr lang="en-US" sz="1100" dirty="0"/>
          </a:p>
        </p:txBody>
      </p:sp>
      <p:sp>
        <p:nvSpPr>
          <p:cNvPr id="10" name="Shape 8"/>
          <p:cNvSpPr/>
          <p:nvPr/>
        </p:nvSpPr>
        <p:spPr>
          <a:xfrm rot="5400000">
            <a:off x="5968850" y="2540000"/>
            <a:ext cx="253994" cy="127000"/>
          </a:xfrm>
          <a:prstGeom prst="rightArrow">
            <a:avLst/>
          </a:prstGeom>
          <a:solidFill>
            <a:srgbClr val="67E8D2"/>
          </a:solidFill>
          <a:ln/>
        </p:spPr>
      </p:sp>
      <p:sp>
        <p:nvSpPr>
          <p:cNvPr id="11" name="Shape 9"/>
          <p:cNvSpPr/>
          <p:nvPr/>
        </p:nvSpPr>
        <p:spPr>
          <a:xfrm>
            <a:off x="888978" y="2667000"/>
            <a:ext cx="10413739" cy="609600"/>
          </a:xfrm>
          <a:prstGeom prst="roundRect">
            <a:avLst/>
          </a:prstGeom>
          <a:solidFill>
            <a:srgbClr val="3B3326"/>
          </a:solidFill>
          <a:ln w="12700">
            <a:solidFill>
              <a:srgbClr val="8A7041"/>
            </a:solidFill>
            <a:prstDash val="solid"/>
          </a:ln>
        </p:spPr>
      </p:sp>
      <p:sp>
        <p:nvSpPr>
          <p:cNvPr id="12" name="Text 10"/>
          <p:cNvSpPr/>
          <p:nvPr/>
        </p:nvSpPr>
        <p:spPr>
          <a:xfrm>
            <a:off x="1215995" y="2771041"/>
            <a:ext cx="9759706" cy="405011"/>
          </a:xfrm>
          <a:prstGeom prst="rect">
            <a:avLst/>
          </a:prstGeom>
          <a:noFill/>
          <a:ln/>
        </p:spPr>
        <p:txBody>
          <a:bodyPr wrap="square" lIns="0" tIns="0" rIns="0" bIns="0" rtlCol="0" anchor="t">
            <a:normAutofit/>
          </a:bodyPr>
          <a:lstStyle/>
          <a:p>
            <a:pPr marL="0" indent="0" algn="ctr">
              <a:lnSpc>
                <a:spcPct val="121000"/>
              </a:lnSpc>
              <a:buNone/>
            </a:pPr>
            <a:r>
              <a:rPr lang="en-US" sz="1100" b="1" dirty="0">
                <a:solidFill>
                  <a:srgbClr val="FFF8E8"/>
                </a:solidFill>
                <a:latin typeface="Hubot Sans Bold" pitchFamily="34" charset="0"/>
                <a:ea typeface="Hubot Sans Bold" pitchFamily="34" charset="-122"/>
                <a:cs typeface="Hubot Sans Bold" pitchFamily="34" charset="-120"/>
              </a:rPr>
              <a:t>3. Live packet ingestion + flow aggregation</a:t>
            </a:r>
            <a:endParaRPr lang="en-US" sz="1100" dirty="0"/>
          </a:p>
          <a:p>
            <a:pPr marL="0" indent="0" algn="ctr">
              <a:lnSpc>
                <a:spcPct val="121000"/>
              </a:lnSpc>
              <a:buNone/>
            </a:pPr>
            <a:r>
              <a:rPr lang="en-US" sz="1100" dirty="0">
                <a:solidFill>
                  <a:srgbClr val="FFF8E8"/>
                </a:solidFill>
                <a:latin typeface="Hubot Sans" pitchFamily="34" charset="0"/>
                <a:ea typeface="Hubot Sans" pitchFamily="34" charset="-122"/>
                <a:cs typeface="Hubot Sans" pitchFamily="34" charset="-120"/>
              </a:rPr>
              <a:t>Extract flow features: protocol, ports, packet count, byte count, duration, traffic rates</a:t>
            </a:r>
            <a:endParaRPr lang="en-US" sz="1100" dirty="0"/>
          </a:p>
        </p:txBody>
      </p:sp>
      <p:sp>
        <p:nvSpPr>
          <p:cNvPr id="13" name="Shape 11"/>
          <p:cNvSpPr/>
          <p:nvPr/>
        </p:nvSpPr>
        <p:spPr>
          <a:xfrm rot="5400000">
            <a:off x="5968850" y="3302000"/>
            <a:ext cx="253994" cy="127000"/>
          </a:xfrm>
          <a:prstGeom prst="rightArrow">
            <a:avLst/>
          </a:prstGeom>
          <a:solidFill>
            <a:srgbClr val="67E8D2"/>
          </a:solidFill>
          <a:ln/>
        </p:spPr>
      </p:sp>
      <p:sp>
        <p:nvSpPr>
          <p:cNvPr id="14" name="Shape 12"/>
          <p:cNvSpPr/>
          <p:nvPr/>
        </p:nvSpPr>
        <p:spPr>
          <a:xfrm>
            <a:off x="888978" y="3454400"/>
            <a:ext cx="10413739" cy="889000"/>
          </a:xfrm>
          <a:prstGeom prst="roundRect">
            <a:avLst/>
          </a:prstGeom>
          <a:solidFill>
            <a:srgbClr val="242B4B"/>
          </a:solidFill>
          <a:ln w="12700">
            <a:solidFill>
              <a:srgbClr val="5866A5"/>
            </a:solidFill>
            <a:prstDash val="solid"/>
          </a:ln>
        </p:spPr>
      </p:sp>
      <p:sp>
        <p:nvSpPr>
          <p:cNvPr id="15" name="Text 13"/>
          <p:cNvSpPr/>
          <p:nvPr/>
        </p:nvSpPr>
        <p:spPr>
          <a:xfrm>
            <a:off x="1215995" y="3596838"/>
            <a:ext cx="9759706" cy="607516"/>
          </a:xfrm>
          <a:prstGeom prst="rect">
            <a:avLst/>
          </a:prstGeom>
          <a:noFill/>
          <a:ln/>
        </p:spPr>
        <p:txBody>
          <a:bodyPr wrap="square" lIns="0" tIns="0" rIns="0" bIns="0" rtlCol="0" anchor="t">
            <a:normAutofit/>
          </a:bodyPr>
          <a:lstStyle/>
          <a:p>
            <a:pPr marL="0" indent="0" algn="ctr">
              <a:lnSpc>
                <a:spcPct val="121000"/>
              </a:lnSpc>
              <a:buNone/>
            </a:pPr>
            <a:r>
              <a:rPr lang="en-US" sz="1100" b="1" dirty="0">
                <a:solidFill>
                  <a:srgbClr val="F2F4FF"/>
                </a:solidFill>
                <a:latin typeface="Hubot Sans Bold" pitchFamily="34" charset="0"/>
                <a:ea typeface="Hubot Sans Bold" pitchFamily="34" charset="-122"/>
                <a:cs typeface="Hubot Sans Bold" pitchFamily="34" charset="-120"/>
              </a:rPr>
              <a:t>4. ML network detection</a:t>
            </a:r>
            <a:endParaRPr lang="en-US" sz="1100" dirty="0"/>
          </a:p>
          <a:p>
            <a:pPr marL="0" indent="0" algn="ctr">
              <a:lnSpc>
                <a:spcPct val="121000"/>
              </a:lnSpc>
              <a:buNone/>
            </a:pPr>
            <a:r>
              <a:rPr lang="en-US" sz="1100" b="1" dirty="0">
                <a:solidFill>
                  <a:srgbClr val="F2F4FF"/>
                </a:solidFill>
                <a:latin typeface="Hubot Sans Bold" pitchFamily="34" charset="0"/>
                <a:ea typeface="Hubot Sans Bold" pitchFamily="34" charset="-122"/>
                <a:cs typeface="Hubot Sans Bold" pitchFamily="34" charset="-120"/>
              </a:rPr>
              <a:t>Random Forest</a:t>
            </a:r>
            <a:r>
              <a:rPr lang="en-US" sz="1100" dirty="0">
                <a:solidFill>
                  <a:srgbClr val="F2F4FF"/>
                </a:solidFill>
                <a:latin typeface="Hubot Sans" pitchFamily="34" charset="0"/>
                <a:ea typeface="Hubot Sans" pitchFamily="34" charset="-122"/>
                <a:cs typeface="Hubot Sans" pitchFamily="34" charset="-120"/>
              </a:rPr>
              <a:t> · classifies known attack types from labeled traffic</a:t>
            </a:r>
            <a:endParaRPr lang="en-US" sz="1100" dirty="0"/>
          </a:p>
          <a:p>
            <a:pPr marL="0" indent="0" algn="ctr">
              <a:lnSpc>
                <a:spcPct val="121000"/>
              </a:lnSpc>
              <a:buNone/>
            </a:pPr>
            <a:r>
              <a:rPr lang="en-US" sz="1100" b="1" dirty="0">
                <a:solidFill>
                  <a:srgbClr val="F2F4FF"/>
                </a:solidFill>
                <a:latin typeface="Hubot Sans Bold" pitchFamily="34" charset="0"/>
                <a:ea typeface="Hubot Sans Bold" pitchFamily="34" charset="-122"/>
                <a:cs typeface="Hubot Sans Bold" pitchFamily="34" charset="-120"/>
              </a:rPr>
              <a:t>Isolation Forest</a:t>
            </a:r>
            <a:r>
              <a:rPr lang="en-US" sz="1100" dirty="0">
                <a:solidFill>
                  <a:srgbClr val="F2F4FF"/>
                </a:solidFill>
                <a:latin typeface="Hubot Sans" pitchFamily="34" charset="0"/>
                <a:ea typeface="Hubot Sans" pitchFamily="34" charset="-122"/>
                <a:cs typeface="Hubot Sans" pitchFamily="34" charset="-120"/>
              </a:rPr>
              <a:t> · flags unusual or novel network behavior</a:t>
            </a:r>
            <a:endParaRPr lang="en-US" sz="1100" dirty="0"/>
          </a:p>
        </p:txBody>
      </p:sp>
      <p:sp>
        <p:nvSpPr>
          <p:cNvPr id="16" name="Shape 14"/>
          <p:cNvSpPr/>
          <p:nvPr/>
        </p:nvSpPr>
        <p:spPr>
          <a:xfrm rot="5400000">
            <a:off x="5968850" y="4368800"/>
            <a:ext cx="253994" cy="127000"/>
          </a:xfrm>
          <a:prstGeom prst="rightArrow">
            <a:avLst/>
          </a:prstGeom>
          <a:solidFill>
            <a:srgbClr val="67E8D2"/>
          </a:solidFill>
          <a:ln/>
        </p:spPr>
      </p:sp>
      <p:sp>
        <p:nvSpPr>
          <p:cNvPr id="17" name="Shape 15"/>
          <p:cNvSpPr/>
          <p:nvPr/>
        </p:nvSpPr>
        <p:spPr>
          <a:xfrm>
            <a:off x="888978" y="4521200"/>
            <a:ext cx="10413739" cy="558800"/>
          </a:xfrm>
          <a:prstGeom prst="roundRect">
            <a:avLst/>
          </a:prstGeom>
          <a:solidFill>
            <a:srgbClr val="4A2934"/>
          </a:solidFill>
          <a:ln w="12700">
            <a:solidFill>
              <a:srgbClr val="9C566A"/>
            </a:solidFill>
            <a:prstDash val="solid"/>
          </a:ln>
        </p:spPr>
      </p:sp>
      <p:sp>
        <p:nvSpPr>
          <p:cNvPr id="18" name="Text 16"/>
          <p:cNvSpPr/>
          <p:nvPr/>
        </p:nvSpPr>
        <p:spPr>
          <a:xfrm>
            <a:off x="911202" y="4701044"/>
            <a:ext cx="10369291" cy="202505"/>
          </a:xfrm>
          <a:prstGeom prst="rect">
            <a:avLst/>
          </a:prstGeom>
          <a:noFill/>
          <a:ln/>
        </p:spPr>
        <p:txBody>
          <a:bodyPr wrap="none" lIns="0" tIns="0" rIns="0" bIns="0" rtlCol="0" anchor="t"/>
          <a:lstStyle/>
          <a:p>
            <a:pPr marL="0" indent="0" algn="ctr">
              <a:lnSpc>
                <a:spcPct val="121000"/>
              </a:lnSpc>
              <a:buNone/>
            </a:pPr>
            <a:r>
              <a:rPr lang="en-US" sz="1100" b="1" dirty="0">
                <a:solidFill>
                  <a:srgbClr val="FFF0F3"/>
                </a:solidFill>
                <a:latin typeface="Hubot Sans Bold" pitchFamily="34" charset="0"/>
                <a:ea typeface="Hubot Sans Bold" pitchFamily="34" charset="-122"/>
                <a:cs typeface="Hubot Sans Bold" pitchFamily="34" charset="-120"/>
              </a:rPr>
              <a:t>5. Threat detection and alerting</a:t>
            </a:r>
            <a:r>
              <a:rPr lang="en-US" sz="1100" dirty="0">
                <a:solidFill>
                  <a:srgbClr val="FFF0F3"/>
                </a:solidFill>
                <a:latin typeface="Hubot Sans" pitchFamily="34" charset="0"/>
                <a:ea typeface="Hubot Sans" pitchFamily="34" charset="-122"/>
                <a:cs typeface="Hubot Sans" pitchFamily="34" charset="-120"/>
              </a:rPr>
              <a:t> · normal / suspicious / malicious traffic</a:t>
            </a:r>
            <a:endParaRPr lang="en-US" sz="1100" dirty="0"/>
          </a:p>
        </p:txBody>
      </p:sp>
      <p:sp>
        <p:nvSpPr>
          <p:cNvPr id="19" name="Shape 17"/>
          <p:cNvSpPr/>
          <p:nvPr/>
        </p:nvSpPr>
        <p:spPr>
          <a:xfrm rot="5400000">
            <a:off x="5968850" y="5105400"/>
            <a:ext cx="253994" cy="127000"/>
          </a:xfrm>
          <a:prstGeom prst="rightArrow">
            <a:avLst/>
          </a:prstGeom>
          <a:solidFill>
            <a:srgbClr val="67E8D2"/>
          </a:solidFill>
          <a:ln/>
        </p:spPr>
      </p:sp>
      <p:sp>
        <p:nvSpPr>
          <p:cNvPr id="20" name="Shape 18"/>
          <p:cNvSpPr/>
          <p:nvPr/>
        </p:nvSpPr>
        <p:spPr>
          <a:xfrm>
            <a:off x="888978" y="5257800"/>
            <a:ext cx="10413739" cy="609600"/>
          </a:xfrm>
          <a:prstGeom prst="roundRect">
            <a:avLst/>
          </a:prstGeom>
          <a:solidFill>
            <a:srgbClr val="203B37"/>
          </a:solidFill>
          <a:ln w="12700">
            <a:solidFill>
              <a:srgbClr val="3C8175"/>
            </a:solidFill>
            <a:prstDash val="solid"/>
          </a:ln>
        </p:spPr>
      </p:sp>
      <p:sp>
        <p:nvSpPr>
          <p:cNvPr id="21" name="Text 19"/>
          <p:cNvSpPr/>
          <p:nvPr/>
        </p:nvSpPr>
        <p:spPr>
          <a:xfrm>
            <a:off x="1215995" y="5361841"/>
            <a:ext cx="9759706" cy="405011"/>
          </a:xfrm>
          <a:prstGeom prst="rect">
            <a:avLst/>
          </a:prstGeom>
          <a:noFill/>
          <a:ln/>
        </p:spPr>
        <p:txBody>
          <a:bodyPr wrap="square" lIns="0" tIns="0" rIns="0" bIns="0" rtlCol="0" anchor="t">
            <a:normAutofit/>
          </a:bodyPr>
          <a:lstStyle/>
          <a:p>
            <a:pPr marL="0" indent="0" algn="ctr">
              <a:lnSpc>
                <a:spcPct val="121000"/>
              </a:lnSpc>
              <a:buNone/>
            </a:pPr>
            <a:r>
              <a:rPr lang="en-US" sz="1100" b="1" dirty="0">
                <a:solidFill>
                  <a:srgbClr val="EBFFFA"/>
                </a:solidFill>
                <a:latin typeface="Hubot Sans Bold" pitchFamily="34" charset="0"/>
                <a:ea typeface="Hubot Sans Bold" pitchFamily="34" charset="-122"/>
                <a:cs typeface="Hubot Sans Bold" pitchFamily="34" charset="-120"/>
              </a:rPr>
              <a:t>6. Evidence store + incident investigation</a:t>
            </a:r>
            <a:endParaRPr lang="en-US" sz="1100" dirty="0"/>
          </a:p>
          <a:p>
            <a:pPr marL="0" indent="0" algn="ctr">
              <a:lnSpc>
                <a:spcPct val="121000"/>
              </a:lnSpc>
              <a:buNone/>
            </a:pPr>
            <a:r>
              <a:rPr lang="en-US" sz="1100" dirty="0">
                <a:solidFill>
                  <a:srgbClr val="EBFFFA"/>
                </a:solidFill>
                <a:latin typeface="Hubot Sans" pitchFamily="34" charset="0"/>
                <a:ea typeface="Hubot Sans" pitchFamily="34" charset="-122"/>
                <a:cs typeface="Hubot Sans" pitchFamily="34" charset="-120"/>
              </a:rPr>
              <a:t>Flow records · predictions · timestamps · logs · PCAP references · incident timeline</a:t>
            </a:r>
            <a:endParaRPr lang="en-US" sz="1100" dirty="0"/>
          </a:p>
        </p:txBody>
      </p:sp>
      <p:sp>
        <p:nvSpPr>
          <p:cNvPr id="22" name="Shape 20"/>
          <p:cNvSpPr/>
          <p:nvPr/>
        </p:nvSpPr>
        <p:spPr>
          <a:xfrm rot="5400000">
            <a:off x="5968850" y="5892800"/>
            <a:ext cx="253994" cy="127000"/>
          </a:xfrm>
          <a:prstGeom prst="rightArrow">
            <a:avLst/>
          </a:prstGeom>
          <a:solidFill>
            <a:srgbClr val="67E8D2"/>
          </a:solidFill>
          <a:ln/>
        </p:spPr>
      </p:sp>
      <p:sp>
        <p:nvSpPr>
          <p:cNvPr id="23" name="Shape 21"/>
          <p:cNvSpPr/>
          <p:nvPr/>
        </p:nvSpPr>
        <p:spPr>
          <a:xfrm>
            <a:off x="888978" y="6045200"/>
            <a:ext cx="10413739" cy="558800"/>
          </a:xfrm>
          <a:prstGeom prst="roundRect">
            <a:avLst/>
          </a:prstGeom>
          <a:solidFill>
            <a:srgbClr val="183A4A"/>
          </a:solidFill>
          <a:ln w="12700">
            <a:solidFill>
              <a:srgbClr val="3B7F95"/>
            </a:solidFill>
            <a:prstDash val="solid"/>
          </a:ln>
        </p:spPr>
      </p:sp>
      <p:sp>
        <p:nvSpPr>
          <p:cNvPr id="24" name="Text 22"/>
          <p:cNvSpPr/>
          <p:nvPr/>
        </p:nvSpPr>
        <p:spPr>
          <a:xfrm>
            <a:off x="911202" y="6225044"/>
            <a:ext cx="10369291" cy="202505"/>
          </a:xfrm>
          <a:prstGeom prst="rect">
            <a:avLst/>
          </a:prstGeom>
          <a:noFill/>
          <a:ln/>
        </p:spPr>
        <p:txBody>
          <a:bodyPr wrap="none" lIns="0" tIns="0" rIns="0" bIns="0" rtlCol="0" anchor="t"/>
          <a:lstStyle/>
          <a:p>
            <a:pPr marL="0" indent="0" algn="ctr">
              <a:lnSpc>
                <a:spcPct val="121000"/>
              </a:lnSpc>
              <a:buNone/>
            </a:pPr>
            <a:r>
              <a:rPr lang="en-US" sz="1100" b="1" dirty="0">
                <a:solidFill>
                  <a:srgbClr val="F0FBFF"/>
                </a:solidFill>
                <a:latin typeface="Hubot Sans Bold" pitchFamily="34" charset="0"/>
                <a:ea typeface="Hubot Sans Bold" pitchFamily="34" charset="-122"/>
                <a:cs typeface="Hubot Sans Bold" pitchFamily="34" charset="-120"/>
              </a:rPr>
              <a:t>7. Streamlit security dashboard</a:t>
            </a:r>
            <a:r>
              <a:rPr lang="en-US" sz="1100" dirty="0">
                <a:solidFill>
                  <a:srgbClr val="F0FBFF"/>
                </a:solidFill>
                <a:latin typeface="Hubot Sans" pitchFamily="34" charset="0"/>
                <a:ea typeface="Hubot Sans" pitchFamily="34" charset="-122"/>
                <a:cs typeface="Hubot Sans" pitchFamily="34" charset="-120"/>
              </a:rPr>
              <a:t> · live alerts · suspicious connections · attack summaries · incident history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AA22708-8E99-CD1D-9FF5-80C7999844F9}"/>
              </a:ext>
            </a:extLst>
          </p:cNvPr>
          <p:cNvSpPr/>
          <p:nvPr/>
        </p:nvSpPr>
        <p:spPr>
          <a:xfrm>
            <a:off x="11077465" y="6548084"/>
            <a:ext cx="1114230" cy="309916"/>
          </a:xfrm>
          <a:prstGeom prst="rect">
            <a:avLst/>
          </a:prstGeom>
          <a:solidFill>
            <a:srgbClr val="0E2A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09585" y="613460"/>
            <a:ext cx="11582110"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ARCHITECTURE 2 · DETECTION PIPELINE</a:t>
            </a:r>
            <a:endParaRPr lang="en-US" sz="1100" dirty="0"/>
          </a:p>
        </p:txBody>
      </p:sp>
      <p:sp>
        <p:nvSpPr>
          <p:cNvPr id="3" name="Text 1"/>
          <p:cNvSpPr/>
          <p:nvPr/>
        </p:nvSpPr>
        <p:spPr>
          <a:xfrm>
            <a:off x="609585" y="900650"/>
            <a:ext cx="10972526" cy="533400"/>
          </a:xfrm>
          <a:prstGeom prst="rect">
            <a:avLst/>
          </a:prstGeom>
          <a:noFill/>
          <a:ln/>
        </p:spPr>
        <p:txBody>
          <a:bodyPr wrap="none" lIns="0" tIns="0" rIns="0" bIns="0" rtlCol="0" anchor="t"/>
          <a:lstStyle/>
          <a:p>
            <a:pPr marL="0" indent="0" algn="l">
              <a:lnSpc>
                <a:spcPct val="88000"/>
              </a:lnSpc>
              <a:buNone/>
            </a:pPr>
            <a:r>
              <a:rPr lang="en-US" sz="4000" b="1" kern="100" spc="-20" dirty="0">
                <a:solidFill>
                  <a:srgbClr val="FF5A3C"/>
                </a:solidFill>
                <a:latin typeface="Encode Sans Semi Condensed Bold" pitchFamily="34" charset="0"/>
                <a:ea typeface="Encode Sans Semi Condensed Bold" pitchFamily="34" charset="-122"/>
                <a:cs typeface="Encode Sans Semi Condensed Bold" pitchFamily="34" charset="-120"/>
              </a:rPr>
              <a:t>What the second architecture detects</a:t>
            </a:r>
            <a:endParaRPr lang="en-US" sz="4000" dirty="0"/>
          </a:p>
        </p:txBody>
      </p:sp>
      <p:sp>
        <p:nvSpPr>
          <p:cNvPr id="4" name="Shape 2"/>
          <p:cNvSpPr/>
          <p:nvPr/>
        </p:nvSpPr>
        <p:spPr>
          <a:xfrm>
            <a:off x="609585" y="1577280"/>
            <a:ext cx="2514537" cy="2526903"/>
          </a:xfrm>
          <a:prstGeom prst="rect">
            <a:avLst/>
          </a:prstGeom>
          <a:solidFill>
            <a:srgbClr val="1E4A3D"/>
          </a:solidFill>
          <a:ln/>
        </p:spPr>
      </p:sp>
      <p:sp>
        <p:nvSpPr>
          <p:cNvPr id="5" name="Shape 3"/>
          <p:cNvSpPr/>
          <p:nvPr/>
        </p:nvSpPr>
        <p:spPr>
          <a:xfrm>
            <a:off x="812780" y="1805880"/>
            <a:ext cx="330192" cy="330200"/>
          </a:xfrm>
          <a:prstGeom prst="ellipse">
            <a:avLst/>
          </a:prstGeom>
          <a:solidFill>
            <a:srgbClr val="FF8050"/>
          </a:solidFill>
          <a:ln/>
        </p:spPr>
      </p:sp>
      <p:sp>
        <p:nvSpPr>
          <p:cNvPr id="6" name="Text 4"/>
          <p:cNvSpPr/>
          <p:nvPr/>
        </p:nvSpPr>
        <p:spPr>
          <a:xfrm>
            <a:off x="885307" y="1888430"/>
            <a:ext cx="794722"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01</a:t>
            </a:r>
            <a:endParaRPr lang="en-US" sz="1300" dirty="0"/>
          </a:p>
        </p:txBody>
      </p:sp>
      <p:sp>
        <p:nvSpPr>
          <p:cNvPr id="7" name="Text 5"/>
          <p:cNvSpPr/>
          <p:nvPr/>
        </p:nvSpPr>
        <p:spPr>
          <a:xfrm>
            <a:off x="812780" y="2224980"/>
            <a:ext cx="2108147" cy="330200"/>
          </a:xfrm>
          <a:prstGeom prst="rect">
            <a:avLst/>
          </a:prstGeom>
          <a:noFill/>
          <a:ln/>
        </p:spPr>
        <p:txBody>
          <a:bodyPr wrap="none" lIns="0" tIns="0" rIns="0" bIns="0" rtlCol="0" anchor="t"/>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Capture</a:t>
            </a:r>
            <a:endParaRPr lang="en-US" sz="2000" dirty="0"/>
          </a:p>
        </p:txBody>
      </p:sp>
      <p:sp>
        <p:nvSpPr>
          <p:cNvPr id="8" name="Text 6"/>
          <p:cNvSpPr/>
          <p:nvPr/>
        </p:nvSpPr>
        <p:spPr>
          <a:xfrm>
            <a:off x="812780" y="2681069"/>
            <a:ext cx="2108147" cy="717947"/>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Capture packets without changing the communication path.</a:t>
            </a:r>
            <a:endParaRPr lang="en-US" sz="1300" dirty="0"/>
          </a:p>
        </p:txBody>
      </p:sp>
      <p:sp>
        <p:nvSpPr>
          <p:cNvPr id="9" name="Shape 7"/>
          <p:cNvSpPr/>
          <p:nvPr/>
        </p:nvSpPr>
        <p:spPr>
          <a:xfrm>
            <a:off x="3428914" y="1577280"/>
            <a:ext cx="2514537" cy="2526903"/>
          </a:xfrm>
          <a:prstGeom prst="rect">
            <a:avLst/>
          </a:prstGeom>
          <a:solidFill>
            <a:srgbClr val="1E4A3D"/>
          </a:solidFill>
          <a:ln/>
        </p:spPr>
      </p:sp>
      <p:sp>
        <p:nvSpPr>
          <p:cNvPr id="10" name="Shape 8"/>
          <p:cNvSpPr/>
          <p:nvPr/>
        </p:nvSpPr>
        <p:spPr>
          <a:xfrm>
            <a:off x="3632109" y="1805880"/>
            <a:ext cx="330192" cy="330200"/>
          </a:xfrm>
          <a:prstGeom prst="ellipse">
            <a:avLst/>
          </a:prstGeom>
          <a:solidFill>
            <a:srgbClr val="FF8050"/>
          </a:solidFill>
          <a:ln/>
        </p:spPr>
      </p:sp>
      <p:sp>
        <p:nvSpPr>
          <p:cNvPr id="11" name="Text 9"/>
          <p:cNvSpPr/>
          <p:nvPr/>
        </p:nvSpPr>
        <p:spPr>
          <a:xfrm>
            <a:off x="3687373" y="1888430"/>
            <a:ext cx="82925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02</a:t>
            </a:r>
            <a:endParaRPr lang="en-US" sz="1300" dirty="0"/>
          </a:p>
        </p:txBody>
      </p:sp>
      <p:sp>
        <p:nvSpPr>
          <p:cNvPr id="12" name="Text 10"/>
          <p:cNvSpPr/>
          <p:nvPr/>
        </p:nvSpPr>
        <p:spPr>
          <a:xfrm>
            <a:off x="3632109" y="2224980"/>
            <a:ext cx="2108147" cy="330200"/>
          </a:xfrm>
          <a:prstGeom prst="rect">
            <a:avLst/>
          </a:prstGeom>
          <a:noFill/>
          <a:ln/>
        </p:spPr>
        <p:txBody>
          <a:bodyPr wrap="none" lIns="0" tIns="0" rIns="0" bIns="0" rtlCol="0" anchor="t"/>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Aggregate flows</a:t>
            </a:r>
            <a:endParaRPr lang="en-US" sz="2000" dirty="0"/>
          </a:p>
        </p:txBody>
      </p:sp>
      <p:sp>
        <p:nvSpPr>
          <p:cNvPr id="13" name="Text 11"/>
          <p:cNvSpPr/>
          <p:nvPr/>
        </p:nvSpPr>
        <p:spPr>
          <a:xfrm>
            <a:off x="3632109" y="2681069"/>
            <a:ext cx="2108147" cy="1196578"/>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Aggregate flows and extract IPs, ports, protocols, packet counts, byte counts, duration, and traffic rates.</a:t>
            </a:r>
            <a:endParaRPr lang="en-US" sz="1300" dirty="0"/>
          </a:p>
        </p:txBody>
      </p:sp>
      <p:sp>
        <p:nvSpPr>
          <p:cNvPr id="14" name="Shape 12"/>
          <p:cNvSpPr/>
          <p:nvPr/>
        </p:nvSpPr>
        <p:spPr>
          <a:xfrm>
            <a:off x="6248244" y="1577280"/>
            <a:ext cx="2514537" cy="2526903"/>
          </a:xfrm>
          <a:prstGeom prst="rect">
            <a:avLst/>
          </a:prstGeom>
          <a:solidFill>
            <a:srgbClr val="1E4A3D"/>
          </a:solidFill>
          <a:ln/>
        </p:spPr>
      </p:sp>
      <p:sp>
        <p:nvSpPr>
          <p:cNvPr id="15" name="Shape 13"/>
          <p:cNvSpPr/>
          <p:nvPr/>
        </p:nvSpPr>
        <p:spPr>
          <a:xfrm>
            <a:off x="6451439" y="1805880"/>
            <a:ext cx="330192" cy="330200"/>
          </a:xfrm>
          <a:prstGeom prst="ellipse">
            <a:avLst/>
          </a:prstGeom>
          <a:solidFill>
            <a:srgbClr val="FF8050"/>
          </a:solidFill>
          <a:ln/>
        </p:spPr>
      </p:sp>
      <p:sp>
        <p:nvSpPr>
          <p:cNvPr id="16" name="Text 14"/>
          <p:cNvSpPr/>
          <p:nvPr/>
        </p:nvSpPr>
        <p:spPr>
          <a:xfrm>
            <a:off x="6506404" y="1888430"/>
            <a:ext cx="829746"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03</a:t>
            </a:r>
            <a:endParaRPr lang="en-US" sz="1300" dirty="0"/>
          </a:p>
        </p:txBody>
      </p:sp>
      <p:sp>
        <p:nvSpPr>
          <p:cNvPr id="17" name="Text 15"/>
          <p:cNvSpPr/>
          <p:nvPr/>
        </p:nvSpPr>
        <p:spPr>
          <a:xfrm>
            <a:off x="6451439" y="2224980"/>
            <a:ext cx="2108147" cy="330200"/>
          </a:xfrm>
          <a:prstGeom prst="rect">
            <a:avLst/>
          </a:prstGeom>
          <a:noFill/>
          <a:ln/>
        </p:spPr>
        <p:txBody>
          <a:bodyPr wrap="none" lIns="0" tIns="0" rIns="0" bIns="0" rtlCol="0" anchor="t"/>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Detect</a:t>
            </a:r>
            <a:endParaRPr lang="en-US" sz="2000" dirty="0"/>
          </a:p>
        </p:txBody>
      </p:sp>
      <p:sp>
        <p:nvSpPr>
          <p:cNvPr id="18" name="Text 16"/>
          <p:cNvSpPr/>
          <p:nvPr/>
        </p:nvSpPr>
        <p:spPr>
          <a:xfrm>
            <a:off x="6451439" y="2681069"/>
            <a:ext cx="2108147" cy="957263"/>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Use Random Forest for known attack types and Isolation Forest for unusual network behavior.</a:t>
            </a:r>
            <a:endParaRPr lang="en-US" sz="1300" dirty="0"/>
          </a:p>
        </p:txBody>
      </p:sp>
      <p:sp>
        <p:nvSpPr>
          <p:cNvPr id="19" name="Shape 17"/>
          <p:cNvSpPr/>
          <p:nvPr/>
        </p:nvSpPr>
        <p:spPr>
          <a:xfrm>
            <a:off x="9067573" y="1577280"/>
            <a:ext cx="2514537" cy="2526903"/>
          </a:xfrm>
          <a:prstGeom prst="rect">
            <a:avLst/>
          </a:prstGeom>
          <a:solidFill>
            <a:srgbClr val="1E4A3D"/>
          </a:solidFill>
          <a:ln/>
        </p:spPr>
      </p:sp>
      <p:sp>
        <p:nvSpPr>
          <p:cNvPr id="20" name="Shape 18"/>
          <p:cNvSpPr/>
          <p:nvPr/>
        </p:nvSpPr>
        <p:spPr>
          <a:xfrm>
            <a:off x="9270768" y="1805880"/>
            <a:ext cx="330192" cy="330200"/>
          </a:xfrm>
          <a:prstGeom prst="ellipse">
            <a:avLst/>
          </a:prstGeom>
          <a:solidFill>
            <a:srgbClr val="FF8050"/>
          </a:solidFill>
          <a:ln/>
        </p:spPr>
      </p:sp>
      <p:sp>
        <p:nvSpPr>
          <p:cNvPr id="21" name="Text 19"/>
          <p:cNvSpPr/>
          <p:nvPr/>
        </p:nvSpPr>
        <p:spPr>
          <a:xfrm>
            <a:off x="9320376" y="1888430"/>
            <a:ext cx="84056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04</a:t>
            </a:r>
            <a:endParaRPr lang="en-US" sz="1300" dirty="0"/>
          </a:p>
        </p:txBody>
      </p:sp>
      <p:sp>
        <p:nvSpPr>
          <p:cNvPr id="22" name="Text 20"/>
          <p:cNvSpPr/>
          <p:nvPr/>
        </p:nvSpPr>
        <p:spPr>
          <a:xfrm>
            <a:off x="9270768" y="2224980"/>
            <a:ext cx="2108147" cy="330200"/>
          </a:xfrm>
          <a:prstGeom prst="rect">
            <a:avLst/>
          </a:prstGeom>
          <a:noFill/>
          <a:ln/>
        </p:spPr>
        <p:txBody>
          <a:bodyPr wrap="none" lIns="0" tIns="0" rIns="0" bIns="0" rtlCol="0" anchor="t"/>
          <a:lstStyle/>
          <a:p>
            <a:pPr marL="0" indent="0" algn="l">
              <a:lnSpc>
                <a:spcPct val="108000"/>
              </a:lnSpc>
              <a:buNone/>
            </a:pPr>
            <a:r>
              <a:rPr lang="en-US" sz="2000" dirty="0">
                <a:solidFill>
                  <a:srgbClr val="EAF4EE"/>
                </a:solidFill>
                <a:latin typeface="Hubot Sans Medium" pitchFamily="34" charset="0"/>
                <a:ea typeface="Hubot Sans Medium" pitchFamily="34" charset="-122"/>
                <a:cs typeface="Hubot Sans Medium" pitchFamily="34" charset="-120"/>
              </a:rPr>
              <a:t>Preserve</a:t>
            </a:r>
            <a:endParaRPr lang="en-US" sz="2000" dirty="0"/>
          </a:p>
        </p:txBody>
      </p:sp>
      <p:sp>
        <p:nvSpPr>
          <p:cNvPr id="23" name="Text 21"/>
          <p:cNvSpPr/>
          <p:nvPr/>
        </p:nvSpPr>
        <p:spPr>
          <a:xfrm>
            <a:off x="9270768" y="2681069"/>
            <a:ext cx="2108147" cy="957263"/>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EAF4EE"/>
                </a:solidFill>
                <a:latin typeface="Hubot Sans" pitchFamily="34" charset="0"/>
                <a:ea typeface="Hubot Sans" pitchFamily="34" charset="-122"/>
                <a:cs typeface="Hubot Sans" pitchFamily="34" charset="-120"/>
              </a:rPr>
              <a:t>Store predictions, timestamps, logs, PCAP references, and incident timelines for investigation.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7109318-67BF-FB40-42ED-726AF969853A}"/>
              </a:ext>
            </a:extLst>
          </p:cNvPr>
          <p:cNvSpPr/>
          <p:nvPr/>
        </p:nvSpPr>
        <p:spPr>
          <a:xfrm>
            <a:off x="11077465" y="6502556"/>
            <a:ext cx="1114230" cy="330200"/>
          </a:xfrm>
          <a:prstGeom prst="rect">
            <a:avLst/>
          </a:prstGeom>
          <a:solidFill>
            <a:srgbClr val="0E2A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09585" y="613460"/>
            <a:ext cx="11582110"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CORRELATION LOGIC</a:t>
            </a:r>
            <a:endParaRPr lang="en-US" sz="1100" dirty="0"/>
          </a:p>
        </p:txBody>
      </p:sp>
      <p:sp>
        <p:nvSpPr>
          <p:cNvPr id="3" name="Text 1"/>
          <p:cNvSpPr/>
          <p:nvPr/>
        </p:nvSpPr>
        <p:spPr>
          <a:xfrm>
            <a:off x="609585" y="900650"/>
            <a:ext cx="10972526" cy="533400"/>
          </a:xfrm>
          <a:prstGeom prst="rect">
            <a:avLst/>
          </a:prstGeom>
          <a:noFill/>
          <a:ln/>
        </p:spPr>
        <p:txBody>
          <a:bodyPr wrap="none" lIns="0" tIns="0" rIns="0" bIns="0" rtlCol="0" anchor="t"/>
          <a:lstStyle/>
          <a:p>
            <a:pPr marL="0" indent="0" algn="l">
              <a:lnSpc>
                <a:spcPct val="88000"/>
              </a:lnSpc>
              <a:buNone/>
            </a:pPr>
            <a:r>
              <a:rPr lang="en-US" sz="4000" b="1" kern="100" spc="-20" dirty="0">
                <a:solidFill>
                  <a:srgbClr val="FF5A3C"/>
                </a:solidFill>
                <a:latin typeface="Encode Sans Semi Condensed Bold" pitchFamily="34" charset="0"/>
                <a:ea typeface="Encode Sans Semi Condensed Bold" pitchFamily="34" charset="-122"/>
                <a:cs typeface="Encode Sans Semi Condensed Bold" pitchFamily="34" charset="-120"/>
              </a:rPr>
              <a:t>How the architectures work together</a:t>
            </a:r>
            <a:endParaRPr lang="en-US" sz="4000" dirty="0"/>
          </a:p>
        </p:txBody>
      </p:sp>
      <p:sp>
        <p:nvSpPr>
          <p:cNvPr id="4" name="Shape 2"/>
          <p:cNvSpPr/>
          <p:nvPr/>
        </p:nvSpPr>
        <p:spPr>
          <a:xfrm>
            <a:off x="609585" y="1786830"/>
            <a:ext cx="330192" cy="330200"/>
          </a:xfrm>
          <a:prstGeom prst="ellipse">
            <a:avLst/>
          </a:prstGeom>
          <a:solidFill>
            <a:srgbClr val="FF8050"/>
          </a:solidFill>
          <a:ln/>
        </p:spPr>
      </p:sp>
      <p:sp>
        <p:nvSpPr>
          <p:cNvPr id="5" name="Text 3"/>
          <p:cNvSpPr/>
          <p:nvPr/>
        </p:nvSpPr>
        <p:spPr>
          <a:xfrm>
            <a:off x="682112" y="1869380"/>
            <a:ext cx="794722"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01</a:t>
            </a:r>
            <a:endParaRPr lang="en-US" sz="1300" dirty="0"/>
          </a:p>
        </p:txBody>
      </p:sp>
      <p:sp>
        <p:nvSpPr>
          <p:cNvPr id="6" name="Text 4"/>
          <p:cNvSpPr/>
          <p:nvPr/>
        </p:nvSpPr>
        <p:spPr>
          <a:xfrm>
            <a:off x="1130272" y="1767780"/>
            <a:ext cx="10451839" cy="330200"/>
          </a:xfrm>
          <a:prstGeom prst="rect">
            <a:avLst/>
          </a:prstGeom>
          <a:noFill/>
          <a:ln/>
        </p:spPr>
        <p:txBody>
          <a:bodyPr wrap="none" lIns="0" tIns="0" rIns="0" bIns="0" rtlCol="0" anchor="t"/>
          <a:lstStyle/>
          <a:p>
            <a:pPr marL="0" indent="0" algn="l">
              <a:lnSpc>
                <a:spcPct val="108000"/>
              </a:lnSpc>
              <a:buNone/>
            </a:pPr>
            <a:r>
              <a:rPr lang="en-US" sz="2000" dirty="0">
                <a:solidFill>
                  <a:srgbClr val="FF5A3C"/>
                </a:solidFill>
                <a:latin typeface="Hubot Sans Medium" pitchFamily="34" charset="0"/>
                <a:ea typeface="Hubot Sans Medium" pitchFamily="34" charset="-122"/>
                <a:cs typeface="Hubot Sans Medium" pitchFamily="34" charset="-120"/>
              </a:rPr>
              <a:t>Verify sensor messages and control commands.</a:t>
            </a:r>
            <a:endParaRPr lang="en-US" sz="2000" dirty="0"/>
          </a:p>
        </p:txBody>
      </p:sp>
      <p:sp>
        <p:nvSpPr>
          <p:cNvPr id="7" name="Shape 5"/>
          <p:cNvSpPr/>
          <p:nvPr/>
        </p:nvSpPr>
        <p:spPr>
          <a:xfrm>
            <a:off x="609585" y="2504380"/>
            <a:ext cx="330192" cy="330200"/>
          </a:xfrm>
          <a:prstGeom prst="ellipse">
            <a:avLst/>
          </a:prstGeom>
          <a:solidFill>
            <a:srgbClr val="FF8050"/>
          </a:solidFill>
          <a:ln/>
        </p:spPr>
      </p:sp>
      <p:sp>
        <p:nvSpPr>
          <p:cNvPr id="8" name="Text 6"/>
          <p:cNvSpPr/>
          <p:nvPr/>
        </p:nvSpPr>
        <p:spPr>
          <a:xfrm>
            <a:off x="664848" y="2586930"/>
            <a:ext cx="82925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02</a:t>
            </a:r>
            <a:endParaRPr lang="en-US" sz="1300" dirty="0"/>
          </a:p>
        </p:txBody>
      </p:sp>
      <p:sp>
        <p:nvSpPr>
          <p:cNvPr id="9" name="Text 7"/>
          <p:cNvSpPr/>
          <p:nvPr/>
        </p:nvSpPr>
        <p:spPr>
          <a:xfrm>
            <a:off x="1130272" y="2485330"/>
            <a:ext cx="10451839" cy="330200"/>
          </a:xfrm>
          <a:prstGeom prst="rect">
            <a:avLst/>
          </a:prstGeom>
          <a:noFill/>
          <a:ln/>
        </p:spPr>
        <p:txBody>
          <a:bodyPr wrap="none" lIns="0" tIns="0" rIns="0" bIns="0" rtlCol="0" anchor="t"/>
          <a:lstStyle/>
          <a:p>
            <a:pPr marL="0" indent="0" algn="l">
              <a:lnSpc>
                <a:spcPct val="108000"/>
              </a:lnSpc>
              <a:buNone/>
            </a:pPr>
            <a:r>
              <a:rPr lang="en-US" sz="2000" dirty="0">
                <a:solidFill>
                  <a:srgbClr val="FF5A3C"/>
                </a:solidFill>
                <a:latin typeface="Hubot Sans Medium" pitchFamily="34" charset="0"/>
                <a:ea typeface="Hubot Sans Medium" pitchFamily="34" charset="-122"/>
                <a:cs typeface="Hubot Sans Medium" pitchFamily="34" charset="-120"/>
              </a:rPr>
              <a:t>Monitor the same endpoints and server for suspicious traffic.</a:t>
            </a:r>
            <a:endParaRPr lang="en-US" sz="2000" dirty="0"/>
          </a:p>
        </p:txBody>
      </p:sp>
      <p:sp>
        <p:nvSpPr>
          <p:cNvPr id="10" name="Shape 8"/>
          <p:cNvSpPr/>
          <p:nvPr/>
        </p:nvSpPr>
        <p:spPr>
          <a:xfrm>
            <a:off x="609585" y="3221930"/>
            <a:ext cx="330192" cy="330200"/>
          </a:xfrm>
          <a:prstGeom prst="ellipse">
            <a:avLst/>
          </a:prstGeom>
          <a:solidFill>
            <a:srgbClr val="FF8050"/>
          </a:solidFill>
          <a:ln/>
        </p:spPr>
      </p:sp>
      <p:sp>
        <p:nvSpPr>
          <p:cNvPr id="11" name="Text 9"/>
          <p:cNvSpPr/>
          <p:nvPr/>
        </p:nvSpPr>
        <p:spPr>
          <a:xfrm>
            <a:off x="664551" y="3304480"/>
            <a:ext cx="829746"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03</a:t>
            </a:r>
            <a:endParaRPr lang="en-US" sz="1300" dirty="0"/>
          </a:p>
        </p:txBody>
      </p:sp>
      <p:sp>
        <p:nvSpPr>
          <p:cNvPr id="12" name="Text 10"/>
          <p:cNvSpPr/>
          <p:nvPr/>
        </p:nvSpPr>
        <p:spPr>
          <a:xfrm>
            <a:off x="1130272" y="3202880"/>
            <a:ext cx="10451839"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FF5A3C"/>
                </a:solidFill>
                <a:latin typeface="Hubot Sans Medium" pitchFamily="34" charset="0"/>
                <a:ea typeface="Hubot Sans Medium" pitchFamily="34" charset="-122"/>
                <a:cs typeface="Hubot Sans Medium" pitchFamily="34" charset="-120"/>
              </a:rPr>
              <a:t>Correlate sensor findings, network events, and control responses by time and device identity.</a:t>
            </a:r>
            <a:endParaRPr lang="en-US" sz="2000" dirty="0"/>
          </a:p>
        </p:txBody>
      </p:sp>
      <p:sp>
        <p:nvSpPr>
          <p:cNvPr id="13" name="Shape 11"/>
          <p:cNvSpPr/>
          <p:nvPr/>
        </p:nvSpPr>
        <p:spPr>
          <a:xfrm>
            <a:off x="609585" y="4237930"/>
            <a:ext cx="330192" cy="330200"/>
          </a:xfrm>
          <a:prstGeom prst="ellipse">
            <a:avLst/>
          </a:prstGeom>
          <a:solidFill>
            <a:srgbClr val="FF8050"/>
          </a:solidFill>
          <a:ln/>
        </p:spPr>
      </p:sp>
      <p:sp>
        <p:nvSpPr>
          <p:cNvPr id="14" name="Text 12"/>
          <p:cNvSpPr/>
          <p:nvPr/>
        </p:nvSpPr>
        <p:spPr>
          <a:xfrm>
            <a:off x="659193" y="4320480"/>
            <a:ext cx="840560" cy="165100"/>
          </a:xfrm>
          <a:prstGeom prst="rect">
            <a:avLst/>
          </a:prstGeom>
          <a:noFill/>
          <a:ln/>
        </p:spPr>
        <p:txBody>
          <a:bodyPr wrap="none" lIns="0" tIns="0" rIns="0" bIns="0" rtlCol="0" anchor="t"/>
          <a:lstStyle/>
          <a:p>
            <a:pPr marL="0" indent="0" algn="l">
              <a:lnSpc>
                <a:spcPct val="83000"/>
              </a:lnSpc>
              <a:buNone/>
            </a:pPr>
            <a:r>
              <a:rPr lang="en-US" sz="1300" b="1" dirty="0">
                <a:solidFill>
                  <a:srgbClr val="000000"/>
                </a:solidFill>
                <a:latin typeface="Hubot Sans Bold" pitchFamily="34" charset="0"/>
                <a:ea typeface="Hubot Sans Bold" pitchFamily="34" charset="-122"/>
                <a:cs typeface="Hubot Sans Bold" pitchFamily="34" charset="-120"/>
              </a:rPr>
              <a:t>04</a:t>
            </a:r>
            <a:endParaRPr lang="en-US" sz="1300" dirty="0"/>
          </a:p>
        </p:txBody>
      </p:sp>
      <p:sp>
        <p:nvSpPr>
          <p:cNvPr id="15" name="Text 13"/>
          <p:cNvSpPr/>
          <p:nvPr/>
        </p:nvSpPr>
        <p:spPr>
          <a:xfrm>
            <a:off x="1130272" y="4218880"/>
            <a:ext cx="10451839" cy="330200"/>
          </a:xfrm>
          <a:prstGeom prst="rect">
            <a:avLst/>
          </a:prstGeom>
          <a:noFill/>
          <a:ln/>
        </p:spPr>
        <p:txBody>
          <a:bodyPr wrap="none" lIns="0" tIns="0" rIns="0" bIns="0" rtlCol="0" anchor="t"/>
          <a:lstStyle/>
          <a:p>
            <a:pPr marL="0" indent="0" algn="l">
              <a:lnSpc>
                <a:spcPct val="108000"/>
              </a:lnSpc>
              <a:buNone/>
            </a:pPr>
            <a:r>
              <a:rPr lang="en-US" sz="2000" dirty="0">
                <a:solidFill>
                  <a:srgbClr val="FF5A3C"/>
                </a:solidFill>
                <a:latin typeface="Hubot Sans Medium" pitchFamily="34" charset="0"/>
                <a:ea typeface="Hubot Sans Medium" pitchFamily="34" charset="-122"/>
                <a:cs typeface="Hubot Sans Medium" pitchFamily="34" charset="-120"/>
              </a:rPr>
              <a:t>Present one incident history for triage and reconstruction.</a:t>
            </a:r>
            <a:endParaRPr lang="en-US" sz="2000" dirty="0"/>
          </a:p>
        </p:txBody>
      </p:sp>
      <p:sp>
        <p:nvSpPr>
          <p:cNvPr id="16" name="Shape 14"/>
          <p:cNvSpPr/>
          <p:nvPr/>
        </p:nvSpPr>
        <p:spPr>
          <a:xfrm>
            <a:off x="609585" y="2285305"/>
            <a:ext cx="10972526" cy="19050"/>
          </a:xfrm>
          <a:prstGeom prst="rect">
            <a:avLst/>
          </a:prstGeom>
          <a:solidFill>
            <a:srgbClr val="1E4A3D"/>
          </a:solidFill>
          <a:ln/>
        </p:spPr>
      </p:sp>
      <p:sp>
        <p:nvSpPr>
          <p:cNvPr id="17" name="Shape 15"/>
          <p:cNvSpPr/>
          <p:nvPr/>
        </p:nvSpPr>
        <p:spPr>
          <a:xfrm>
            <a:off x="609585" y="3002855"/>
            <a:ext cx="10972526" cy="19050"/>
          </a:xfrm>
          <a:prstGeom prst="rect">
            <a:avLst/>
          </a:prstGeom>
          <a:solidFill>
            <a:srgbClr val="1E4A3D"/>
          </a:solidFill>
          <a:ln/>
        </p:spPr>
      </p:sp>
      <p:sp>
        <p:nvSpPr>
          <p:cNvPr id="18" name="Shape 16"/>
          <p:cNvSpPr/>
          <p:nvPr/>
        </p:nvSpPr>
        <p:spPr>
          <a:xfrm>
            <a:off x="609585" y="4018855"/>
            <a:ext cx="10972526" cy="19050"/>
          </a:xfrm>
          <a:prstGeom prst="rect">
            <a:avLst/>
          </a:prstGeom>
          <a:solidFill>
            <a:srgbClr val="1E4A3D"/>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5A5B4D-B602-9413-50C1-4E92CC595174}"/>
              </a:ext>
            </a:extLst>
          </p:cNvPr>
          <p:cNvSpPr/>
          <p:nvPr/>
        </p:nvSpPr>
        <p:spPr>
          <a:xfrm>
            <a:off x="11110823" y="6547449"/>
            <a:ext cx="1081177" cy="310551"/>
          </a:xfrm>
          <a:prstGeom prst="rect">
            <a:avLst/>
          </a:prstGeom>
          <a:solidFill>
            <a:srgbClr val="0E2A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09585" y="613460"/>
            <a:ext cx="11582110"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INVESTIGATION VIEW</a:t>
            </a:r>
            <a:endParaRPr lang="en-US" sz="1100" dirty="0"/>
          </a:p>
        </p:txBody>
      </p:sp>
      <p:sp>
        <p:nvSpPr>
          <p:cNvPr id="3" name="Text 1"/>
          <p:cNvSpPr/>
          <p:nvPr/>
        </p:nvSpPr>
        <p:spPr>
          <a:xfrm>
            <a:off x="609585" y="900650"/>
            <a:ext cx="10972526" cy="533400"/>
          </a:xfrm>
          <a:prstGeom prst="rect">
            <a:avLst/>
          </a:prstGeom>
          <a:noFill/>
          <a:ln/>
        </p:spPr>
        <p:txBody>
          <a:bodyPr wrap="none" lIns="0" tIns="0" rIns="0" bIns="0" rtlCol="0" anchor="t"/>
          <a:lstStyle/>
          <a:p>
            <a:pPr marL="0" indent="0" algn="l">
              <a:lnSpc>
                <a:spcPct val="88000"/>
              </a:lnSpc>
              <a:buNone/>
            </a:pPr>
            <a:r>
              <a:rPr lang="en-US" sz="4000" b="1" kern="100" spc="-20" dirty="0">
                <a:solidFill>
                  <a:srgbClr val="FF5A3C"/>
                </a:solidFill>
                <a:latin typeface="Encode Sans Semi Condensed Bold" pitchFamily="34" charset="0"/>
                <a:ea typeface="Encode Sans Semi Condensed Bold" pitchFamily="34" charset="-122"/>
                <a:cs typeface="Encode Sans Semi Condensed Bold" pitchFamily="34" charset="-120"/>
              </a:rPr>
              <a:t>One dashboard, one investigation view</a:t>
            </a:r>
            <a:endParaRPr lang="en-US" sz="4000" dirty="0"/>
          </a:p>
        </p:txBody>
      </p:sp>
      <p:sp>
        <p:nvSpPr>
          <p:cNvPr id="4" name="Text 2"/>
          <p:cNvSpPr/>
          <p:nvPr/>
        </p:nvSpPr>
        <p:spPr>
          <a:xfrm>
            <a:off x="609585" y="2788444"/>
            <a:ext cx="3352716" cy="110490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EAF4EE"/>
                </a:solidFill>
                <a:latin typeface="Hubot Sans" pitchFamily="34" charset="0"/>
                <a:ea typeface="Hubot Sans" pitchFamily="34" charset="-122"/>
                <a:cs typeface="Hubot Sans" pitchFamily="34" charset="-120"/>
              </a:rPr>
              <a:t>Streamlit brings live readings, alerts, device status, suspicious connections, attack timelines, and incident history together.</a:t>
            </a:r>
            <a:endParaRPr lang="en-US" sz="1500" dirty="0"/>
          </a:p>
        </p:txBody>
      </p:sp>
      <p:sp>
        <p:nvSpPr>
          <p:cNvPr id="5" name="Shape 3"/>
          <p:cNvSpPr/>
          <p:nvPr/>
        </p:nvSpPr>
        <p:spPr>
          <a:xfrm>
            <a:off x="4419489" y="1577280"/>
            <a:ext cx="3352716" cy="3512939"/>
          </a:xfrm>
          <a:prstGeom prst="rect">
            <a:avLst/>
          </a:prstGeom>
          <a:solidFill>
            <a:srgbClr val="0B221C"/>
          </a:solidFill>
          <a:ln/>
        </p:spPr>
      </p:sp>
      <p:pic>
        <p:nvPicPr>
          <p:cNvPr id="6" name="Image 0" descr="preencoded.png"/>
          <p:cNvPicPr>
            <a:picLocks noChangeAspect="1"/>
          </p:cNvPicPr>
          <p:nvPr/>
        </p:nvPicPr>
        <p:blipFill>
          <a:blip r:embed="rId3"/>
          <a:stretch>
            <a:fillRect/>
          </a:stretch>
        </p:blipFill>
        <p:spPr>
          <a:xfrm>
            <a:off x="4673483" y="2489498"/>
            <a:ext cx="380990" cy="381000"/>
          </a:xfrm>
          <a:prstGeom prst="rect">
            <a:avLst/>
          </a:prstGeom>
        </p:spPr>
      </p:pic>
      <p:sp>
        <p:nvSpPr>
          <p:cNvPr id="7" name="Text 4"/>
          <p:cNvSpPr/>
          <p:nvPr/>
        </p:nvSpPr>
        <p:spPr>
          <a:xfrm>
            <a:off x="4673483" y="3016294"/>
            <a:ext cx="2844729" cy="800100"/>
          </a:xfrm>
          <a:prstGeom prst="rect">
            <a:avLst/>
          </a:prstGeom>
          <a:noFill/>
          <a:ln/>
        </p:spPr>
        <p:txBody>
          <a:bodyPr wrap="square" lIns="0" tIns="0" rIns="0" bIns="0" rtlCol="0" anchor="t">
            <a:normAutofit lnSpcReduction="10000"/>
          </a:bodyPr>
          <a:lstStyle/>
          <a:p>
            <a:pPr marL="0" indent="0" algn="l">
              <a:lnSpc>
                <a:spcPct val="88000"/>
              </a:lnSpc>
              <a:buNone/>
            </a:pPr>
            <a:r>
              <a:rPr lang="en-US" sz="3000" b="1" kern="100" spc="-15" dirty="0">
                <a:solidFill>
                  <a:srgbClr val="FFFFFF"/>
                </a:solidFill>
                <a:latin typeface="Encode Sans Semi Condensed Bold" pitchFamily="34" charset="0"/>
                <a:ea typeface="Encode Sans Semi Condensed Bold" pitchFamily="34" charset="-122"/>
                <a:cs typeface="Encode Sans Semi Condensed Bold" pitchFamily="34" charset="-120"/>
              </a:rPr>
              <a:t>Streamlit</a:t>
            </a:r>
            <a:endParaRPr lang="en-US" sz="3000" dirty="0"/>
          </a:p>
          <a:p>
            <a:pPr marL="0" indent="0" algn="l">
              <a:lnSpc>
                <a:spcPct val="88000"/>
              </a:lnSpc>
              <a:buNone/>
            </a:pPr>
            <a:r>
              <a:rPr lang="en-US" sz="3000" b="1" kern="100" spc="-15" dirty="0">
                <a:solidFill>
                  <a:srgbClr val="FFFFFF"/>
                </a:solidFill>
                <a:latin typeface="Encode Sans Semi Condensed Bold" pitchFamily="34" charset="0"/>
                <a:ea typeface="Encode Sans Semi Condensed Bold" pitchFamily="34" charset="-122"/>
                <a:cs typeface="Encode Sans Semi Condensed Bold" pitchFamily="34" charset="-120"/>
              </a:rPr>
              <a:t>dashboard</a:t>
            </a:r>
            <a:endParaRPr lang="en-US" sz="3000" dirty="0"/>
          </a:p>
        </p:txBody>
      </p:sp>
      <p:sp>
        <p:nvSpPr>
          <p:cNvPr id="8" name="Text 5"/>
          <p:cNvSpPr/>
          <p:nvPr/>
        </p:nvSpPr>
        <p:spPr>
          <a:xfrm>
            <a:off x="4673483" y="3977938"/>
            <a:ext cx="3098722" cy="205680"/>
          </a:xfrm>
          <a:prstGeom prst="rect">
            <a:avLst/>
          </a:prstGeom>
          <a:noFill/>
          <a:ln/>
        </p:spPr>
        <p:txBody>
          <a:bodyPr wrap="none" lIns="0" tIns="0" rIns="0" bIns="0" rtlCol="0" anchor="t"/>
          <a:lstStyle/>
          <a:p>
            <a:pPr marL="0" indent="0" algn="l">
              <a:lnSpc>
                <a:spcPct val="113000"/>
              </a:lnSpc>
              <a:buNone/>
            </a:pPr>
            <a:r>
              <a:rPr lang="en-US" sz="1200" dirty="0">
                <a:solidFill>
                  <a:srgbClr val="FFFFFF"/>
                </a:solidFill>
                <a:latin typeface="Hubot Sans" pitchFamily="34" charset="0"/>
                <a:ea typeface="Hubot Sans" pitchFamily="34" charset="-122"/>
                <a:cs typeface="Hubot Sans" pitchFamily="34" charset="-120"/>
              </a:rPr>
              <a:t>One investigation view</a:t>
            </a:r>
            <a:endParaRPr lang="en-US" sz="1200" dirty="0"/>
          </a:p>
        </p:txBody>
      </p:sp>
      <p:sp>
        <p:nvSpPr>
          <p:cNvPr id="9" name="Text 6"/>
          <p:cNvSpPr/>
          <p:nvPr/>
        </p:nvSpPr>
        <p:spPr>
          <a:xfrm>
            <a:off x="8229394" y="2926556"/>
            <a:ext cx="3352716"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EAF4EE"/>
                </a:solidFill>
                <a:latin typeface="Hubot Sans" pitchFamily="34" charset="0"/>
                <a:ea typeface="Hubot Sans" pitchFamily="34" charset="-122"/>
                <a:cs typeface="Hubot Sans" pitchFamily="34" charset="-120"/>
              </a:rPr>
              <a:t>SQLite-backed services preserve readings, verification results, predictions, and incident records.</a:t>
            </a:r>
            <a:endParaRPr lang="en-US" sz="1500" dirty="0"/>
          </a:p>
        </p:txBody>
      </p:sp>
      <p:sp>
        <p:nvSpPr>
          <p:cNvPr id="10" name="Text 7"/>
          <p:cNvSpPr/>
          <p:nvPr/>
        </p:nvSpPr>
        <p:spPr>
          <a:xfrm>
            <a:off x="863578" y="5475080"/>
            <a:ext cx="10718532" cy="167580"/>
          </a:xfrm>
          <a:prstGeom prst="rect">
            <a:avLst/>
          </a:prstGeom>
          <a:noFill/>
          <a:ln/>
        </p:spPr>
        <p:txBody>
          <a:bodyPr wrap="none" lIns="0" tIns="0" rIns="0" bIns="0" rtlCol="0" anchor="t"/>
          <a:lstStyle/>
          <a:p>
            <a:pPr marL="0" indent="0" algn="l">
              <a:lnSpc>
                <a:spcPct val="100000"/>
              </a:lnSpc>
              <a:buNone/>
            </a:pPr>
            <a:r>
              <a:rPr lang="en-US" sz="1100" kern="100" spc="88" dirty="0">
                <a:solidFill>
                  <a:srgbClr val="F2B84B"/>
                </a:solidFill>
                <a:latin typeface="Red Hat Mono" pitchFamily="34" charset="0"/>
                <a:ea typeface="Red Hat Mono" pitchFamily="34" charset="-122"/>
                <a:cs typeface="Red Hat Mono" pitchFamily="34" charset="-120"/>
              </a:rPr>
              <a:t>OUTCOME</a:t>
            </a:r>
            <a:endParaRPr lang="en-US" sz="1100" dirty="0"/>
          </a:p>
        </p:txBody>
      </p:sp>
      <p:sp>
        <p:nvSpPr>
          <p:cNvPr id="11" name="Text 8"/>
          <p:cNvSpPr/>
          <p:nvPr/>
        </p:nvSpPr>
        <p:spPr>
          <a:xfrm>
            <a:off x="863578" y="5727700"/>
            <a:ext cx="10464538" cy="330200"/>
          </a:xfrm>
          <a:prstGeom prst="rect">
            <a:avLst/>
          </a:prstGeom>
          <a:noFill/>
          <a:ln/>
        </p:spPr>
        <p:txBody>
          <a:bodyPr wrap="none" lIns="0" tIns="0" rIns="0" bIns="0" rtlCol="0" anchor="t"/>
          <a:lstStyle/>
          <a:p>
            <a:pPr marL="0" indent="0" algn="l">
              <a:lnSpc>
                <a:spcPct val="108000"/>
              </a:lnSpc>
              <a:buNone/>
            </a:pPr>
            <a:r>
              <a:rPr lang="en-US" sz="2000" dirty="0">
                <a:solidFill>
                  <a:srgbClr val="FF5A3C"/>
                </a:solidFill>
                <a:latin typeface="Hubot Sans Medium" pitchFamily="34" charset="0"/>
                <a:ea typeface="Hubot Sans Medium" pitchFamily="34" charset="-122"/>
                <a:cs typeface="Hubot Sans Medium" pitchFamily="34" charset="-120"/>
              </a:rPr>
              <a:t>Defense in depth: verify, detect, constrain, record, and investigate.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1094</Words>
  <Application>Microsoft Office PowerPoint</Application>
  <PresentationFormat>Widescreen</PresentationFormat>
  <Paragraphs>107</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Encode Sans Semi Condensed Bold</vt:lpstr>
      <vt:lpstr>Arial</vt:lpstr>
      <vt:lpstr>Hubot Sans Medium</vt:lpstr>
      <vt:lpstr>Noto Color Emoji</vt:lpstr>
      <vt:lpstr>Hubot Sans</vt:lpstr>
      <vt:lpstr>Red Hat Mono</vt:lpstr>
      <vt:lpstr>Hubot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Rimith Reddy.P</cp:lastModifiedBy>
  <cp:revision>3</cp:revision>
  <dcterms:created xsi:type="dcterms:W3CDTF">2026-10-10T19:18:06Z</dcterms:created>
  <dcterms:modified xsi:type="dcterms:W3CDTF">2026-10-10T13:55:03Z</dcterms:modified>
</cp:coreProperties>
</file>